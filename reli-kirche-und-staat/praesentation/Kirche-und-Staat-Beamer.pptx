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Zehn Sekunden zeigen. Nichts sagen. Steuerklasse I, Kirche: ev.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Drei Fächer teilen sich dieselbe Stunde — an einer staatlichen Schule.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Häufiger Irrtum: Militärpfarrer seien Soldaten. Sind sie nicht. Jetzt nicht auflösen.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staatliches Gesetz schützt einen kirchlichen Feiertag — und verbietet allen etwas, auch denen, die nicht in der Kirche sind.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„Ich höre viermal dasselbe Wort: Kirche. Ihr habt recht — in jedem dieser Bilder steckt Kirche. Aber schaut genau hin: In keinem einzigen ist eine Kirche zu sehen. Das hier ist eine Lohnabrechnung, das ein Rettungswagen, das ein Stundenplan. Das sind lauter staatliche Angelegenheiten. Und trotzdem ist Kirche darin. Wie kommt sie da hinein?“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Zuruf: Welcher Satz passt zu welchem Bild von vorhin?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die Tafel schreiben. Bleibt sechs Wochen lang stehen.</a:t>
            </a:r>
          </a:p>
          <a:p/>
          <a:p>
            <a:r>
              <a:t>ÜBERLEITUNG: „Diese Frage kann ich euch nicht beantworten, ohne dass ihr wisst, worüber wir reden. Also machen wir es umgekehrt: Ihr recherchiert selbst. Jede Gruppe wird für zwanzig Minuten die einzige Person im Raum, die sich mit ihrem Thema auskennt.“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danach: „Zeit ist um. Ab jetzt gilt: Euer Blatt bleibt liegen, ihr nehmt nur euren Kopf mit. Wenn eure Zuhörer am Ende euer Feld ‚Streitpunkt‘ nicht ausfüllen können, habt ihr schlecht erklärt — nicht die anderen schlecht zugehört.“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 zwei Begründungen fragen: „Wer hat ein Argument gehört, das ihn ins Wanken bringt? Wechselt die Ecke — das ist ausdrücklich erlaubt.“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 zwei Begründungen fragen: „Wer hat ein Argument gehört, das ihn ins Wanken bringt? Wechselt die Ecke — das ist ausdrücklich erlaubt.“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 zwei Begründungen fragen: „Wer hat ein Argument gehört, das ihn ins Wanken bringt? Wechselt die Ecke — das ist ausdrücklich erlaubt.“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 zwei Begründungen fragen: „Wer hat ein Argument gehört, das ihn ins Wanken bringt? Wechselt die Ecke — das ist ausdrücklich erlaubt.“</a:t>
            </a:r>
          </a:p>
          <a:p/>
          <a:p>
            <a:r>
              <a:t>Satz 4 ist der wichtigste. Verteilung im Raum notieren — sie kommt in Doppelstunde 6 zurück.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Zehn Sekunden stehen lassen, nichts sagen.</a:t>
            </a:r>
          </a:p>
          <a:p/>
          <a:p>
            <a:r>
              <a:t>ÜBERLEITUNG: „Damals war die Nähe zwischen Kirche und Staat so eng wie nie — und für manche Menschen wurde sie lebensgefährlich. Nächste Stunde fangen wir genau hier an. Und die Frage, die ihr mitnehmt, ist nicht ‚Wie konnten die nur?‘, sondern: ‚Was hätte ich in diesem Raum gemacht?‘“</a:t>
            </a:r>
          </a:p>
          <a:p/>
          <a:p>
            <a:r>
              <a:t>HAUSAUFGABE: Eine erwachsene Person fragen: Zahlst du Kirchensteuer — und warum eigentlich (nicht)? Zwei Sätze, ohne Namen.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Hängt schon an der Wand, wenn die Klasse hereinkommt. Ohne Titel, ohne Jahreszahl.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Auf dem Transparent hat das Kreuz nur die Hälfte des Platzes — die andere gehört dem Hakenkreuz. Wenn niemand darauf kommt, nur fragen: „Wer wirbt hier eigentlich für wen?“</a:t>
            </a:r>
          </a:p>
          <a:p/>
          <a:p>
            <a:r>
              <a:t>ÜBERLEITUNG: „Die meisten eurer Fragen laufen auf dasselbe hinaus: Wie konnten die nur? Ich möchte euch diese Frage wegnehmen. Sie ist bequem — sie stellt uns auf die richtige Seite, bevor wir irgendetwas verstanden haben. Die schwierigere Frage lautet: Was war daran so überzeugend?“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Kirchenwahl ist der wichtigste Tag: Die Anpassung wurde GEWÄHLT, nicht befohlen.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 dem Austeilen ansagen: „Zwei dieser Texte sind judenfeindlich. Ich gebe sie euch, weil man nicht verstehen kann, was passiert ist, ohne zu sehen, wie normal diese Sätze damals klangen. Wenn euch ein Satz zu nahe geht, sagt es mir.“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„Die Menschen, die 1933 gejubelt haben, waren keine schlechten Christen in ihren eigenen Augen. Sie hatten einen Bibelvers dafür. Und die, die widersprochen haben, hatten auch einen.“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„Das EINE Wort. Nicht: eines von mehreren. Überlegt bis nächste Woche, wem dieser Satz wehtut. Denn dreizehn Tage später haben acht evangelische Theologen — sechs davon aus Franken — eine Gegenschrift veröffentlicht. Nächste Stunde lassen wir die beiden Seiten aufeinandertreffen. Und ihr sitzt nicht im Publikum. Ihr seid die beiden Seiten.“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Frage: Welcher Text stammt von Gegnern des Nationalsozialismus? Zeigen mit dem Finger.</a:t>
            </a:r>
          </a:p>
          <a:p/>
          <a:p>
            <a:r>
              <a:t>AUFLÖSUNG: Beide sind von 1934, beide von evangelischen Theologen, dreizehn Tage auseinander. Text A: Barmer Erklärung, 31. Mai. Text B: Ansbacher Ratschlag, 11. Juni.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Regeln laut ansagen: Angegriffen werden Positionen, nie Personen. Auf „Stopp“ frieren alle ein.</a:t>
            </a:r>
          </a:p>
          <a:p/>
          <a:p>
            <a:r>
              <a:t>NACH DER RUNDE: „Bitte aufstehen, einmal ausschütteln, auf einen anderen Platz setzen. Damit sind die Rollen abgelegt.“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„Der Originaltext ist sperrig — Theologendeutsch von 1934. Eure Aufgabe ist, ihn so zu übersetzen, dass ihn eine Siebtklässlerin versteht. Das ist die härteste Prüfung für Verstehen, die ich kenne: Wer etwas nicht einfach sagen kann, hat es nicht verstanden.“</a:t>
            </a:r>
          </a:p>
          <a:p/>
          <a:p>
            <a:r>
              <a:t>Diese Satzform kommt in Doppelstunde 6 zurück. Die besten Übersetzungen einsammeln.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Blitzumfrage: Umbenennen — ja oder nein? Dann die dritte Möglichkeit ins Spiel bringen: Name behalten, Zusatzschild anbringen. Was müsste darauf stehen? Einen Satz gemeinsam formulieren.</a:t>
            </a:r>
          </a:p>
          <a:p/>
          <a:p>
            <a:r>
              <a:t>ÜBERLEITUNG: „Meiser hat seine Kirche gerettet und zu den Deportationen geschwiegen. Bonhoeffer hat an einem Attentat mitgewirkt und ist dafür gehängt worden. Niemöller hat Hitler zuerst gewählt und ist dann im KZ gelandet. Nächste Stunde spannen wir eine Leine quer durch diesen Raum.“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Gruppen lesen nacheinander je einen Abschnitt, die letzte Zeile liest die ganze Klasse gemeinsam. Danach zehn Sekunden Stille — nicht auflösen.</a:t>
            </a:r>
          </a:p>
          <a:p/>
          <a:p>
            <a:r>
              <a:t>Die fehlende Urfassung gehört in die Auswertung: Auch ein berühmtes Zitat hat eine Geschichte. Wird der Text dadurch weniger wahr?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„Behaltet diesen Zettel. Der Mann, der den Text geschrieben hat, war 1924 stolzer Nationalist und U-Boot-Kommandant. Später saß er sieben Jahre in Sachsenhausen und Dachau. Menschen sind nicht von Anfang an Helden oder Feiglinge — sie werden es, Entscheidung für Entscheidung.“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„Ich habe eine Leine gespannt. Links: Anpassung. Rechts: Widerstand. Dazwischen ist nichts — kein Raster, keine Markierungen. Den Zwischenraum füllt ihr. Und ich verspreche euch: Sobald die dritte Karte hängt, wird jemand widersprechen wollen.“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„Wir hören auf, einzelne Menschen zu benoten. Keiner von uns weiß, wie er sich verhalten hätte — und wer behauptet, er wüsste es, hat meistens am wenigsten darüber nachgedacht. Die nützlichere Frage lautet: Was hatten die Leute rechts an der Leine, was die Leute links nicht hatten?“</a:t>
            </a:r>
          </a:p>
          <a:p/>
          <a:p>
            <a:r>
              <a:t>MITTELFELDER EINSAMMELN — sie hängen in Doppelstunde 6 wieder an der Wand.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Vorlesen. Pause. Nichts erklären, nicht deuten, keine Hausaufgabe hinterherschieben. Projektion an lassen, bis der letzte Schüler den Raum verlassen hat.</a:t>
            </a:r>
          </a:p>
          <a:p/>
          <a:p>
            <a:r>
              <a:t>Erst beim Hinausgehen, im Vorbeigehen: „Nächste Woche springen wir vierzig Jahre weiter. Gleiches Land, andere Diktatur — und diesmal bringt ihr eure Handys mit.“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Frage: Warum sollte ein Staat Angst vor einem Zeichen haben, das zum Frieden aufruft?</a:t>
            </a:r>
          </a:p>
          <a:p/>
          <a:p>
            <a:r>
              <a:t>DER WITZ AN DER SACHE: Das Motiv geht auf eine Plastik zurück, die die Sowjetunion 1959 den Vereinten Nationen geschenkt hat. Der Staat konnte es schlecht verbieten, ohne sich selbst zu widersprechen — und ging trotzdem gegen die Träger vor.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eine Satz, der hängen bleiben soll: Die Kirche war in der DDR der einzige Ort, an dem man Sätze sagen durfte, die sonst nirgends erlaubt waren. Das machte sie kostbar — und für den Staat zu einem Problem, das er nicht zerschlagen konnte.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Regel laut ansagen: „Zu jeder Behauptung auf eurer Tafel muss ich fragen dürfen: Wo steht das? — und ihr müsst es mir zeigen können.“ Startquellen: LeMO (dhm.de/lemo) und Bundesstiftung Aufarbeitung.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anschließende Besprechung der meistgeklebten Fragen ist die inhaltlich wertvollste Phase der Stunde. Sie darf überziehen.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ERWARTUNGSHORIZONT für die letzte Zeile — nicht vorsagen: die Erfahrung von 1933. 1989 wusste die Kirche, wie es ausgeht, wenn man sich vereinnahmen lässt. Barmen war inzwischen ein Text, auf den man sich berufen konnte.</a:t>
            </a:r>
          </a:p>
          <a:p/>
          <a:p>
            <a:r>
              <a:t>ÜBERLEITUNG: „Nächste Woche steht kein Jahr mehr an der Tafel, sondern dieses. Und ihr werdet etwas tun, das seit 1934 kaum jemand mehr gemacht hat: Ihr schreibt eigene Bekenntnissätze. Und die hängen wir an die Tür.“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Plakat hängt schon, wenn die Klasse hereinkommt. Alle kleben beim Hereinkommen, bevor irgendetwas besprochen wird. Verteilung unkommentiert stehen lassen. Am Stundenende klebt jede und jeder einen zweiten Punkt in anderer Farbe.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 DER STUNDE PRÜFEN: Die dritte Meldung ist rechtlich in Bewegung. Datum eintragen — das ist Teil der Stunde: Die Klasse soll sehen, wie man mit einem laufenden Verfahren korrekt umgeht.</a:t>
            </a:r>
          </a:p>
          <a:p/>
          <a:p>
            <a:r>
              <a:t>Frage: Was heißt eigentlich „unvereinbar“? Und was heißt es nicht?</a:t>
            </a:r>
          </a:p>
          <a:p/>
          <a:p>
            <a:r>
              <a:t>ÜBERLEITUNG: „Ich werde euch nicht sagen, was ihr wählen sollt — das steht mir nicht zu und wäre auch verboten. Wir schauen uns an, was die Kirchen sagen, warum sie es sagen, und ob sie es sagen dürfen.“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„Aufgabe 3 war die wichtigste. Wer nur die starken Stellen der eigenen Seite kennt, kann kein Gespräch führen, sondern nur einen Schlagabtausch. Jede Gruppe stellt deshalb NICHT ihre Position vor, sondern nennt zuerst die schwächste Stelle ihres eigenen Textes.“</a:t>
            </a:r>
          </a:p>
          <a:p/>
          <a:p>
            <a:r>
              <a:t>An der Tafel zwei Spalten führen: für Zurückhaltung / für Einmischung. Beide müssen am Ende ähnlich voll sein.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Einblenden, wenn das Argument „Die Kirche soll sich raushalten“ fällt. Die Frage bleibt offen — sie wird in der Werkstatt bearbeitet, nicht im Gespräch entschieden.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„Ihr habt in der dritten Doppelstunde einen Satzanfang übersetzt, den ich euch jetzt zurückgebe: ‚Wir verwerfen die falsche Lehre, als ob …‘ 1934 haben acht Sätze in dieser Form eine Kirche verändert. Ihr seid jetzt dran. Nicht als Übung, sondern im Ernst. Und weil das eine hohe Messlatte ist, gibt es eine Bedingung: Jede These muss sich an einer Bibelstelle festmachen lassen. Sonst ist es Meinung.“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der Unterschied zwischen einer Bekenntnisthese und einem Wahlkampfplakat — und zugleich die didaktische Absicherung der Stunde. Eine These, die eine Partei beim Namen nennt, besteht Kriterium 2 nicht und wird von der Gruppe SELBST überarbeitet. Damit erledigt sich die Neutralitätsfrage nicht durch ein Verbot der Lehrkraft, sondern durch eine Einsicht der Klasse.</a:t>
            </a:r>
          </a:p>
          <a:p/>
          <a:p>
            <a:r>
              <a:t>Barmen war stark, weil es nicht an einer Person hing.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 Gruppe geht zur Tür, liest ihre These LAUT vor und hängt sie auf. Kein Kommentar, keine Bewertung, kein Applaus — die Wirkung entsteht durch das Nacheinander. Erst wenn alle sechs hängen, tritt die Klasse zurück und liest still.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„Eine Sache fehlt noch, und sie ist die entscheidende. Es ist wohlfeil, Thesen an eine Tür zu hängen, wenn dahinter nichts folgt. Die Bekennende Kirche war genau deshalb schwach: Sie hat 1934 einen großartigen Text geschrieben — und dann zur Verfolgung ihrer jüdischen Nachbarn überwiegend geschwiegen. Ein Bekenntnis, aus dem kein Handeln folgt, ist ein Aufsatz.“</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bis drei Beispiele sammeln und neben die Thesen an die Tür hängen — mit der Überschrift, die du dazuschreibst: „Und das machen wir daraus.“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Placemat-Mittelfelder aus DS 4 werden ohne Vorankündigung wieder aufgehängt.</a:t>
            </a:r>
          </a:p>
          <a:p/>
          <a:p>
            <a:r>
              <a:t>WORTLAUT: „Das habt ihr vor drei Wochen aufgeschrieben. Es war eure Antwort auf die Frage, was Menschen 1934 geholfen hat zu widersprechen. Lest es noch einmal — und lest es diesmal nicht als Geschichte, sondern als Gebrauchsanweisung.“</a:t>
            </a:r>
          </a:p>
          <a:p/>
          <a:p>
            <a:r>
              <a:t>„Und zum Schluss: Klebt noch einmal auf das Plakat von heute Morgen. Dieselbe Frage, zweiter Klebepunkt, andere Farbe. Ich sage euch nicht, wo ihr kleben sollt. Ich möchte nur, dass ihr seht, ob dieser Vormittag etwas verschoben hat.“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13716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LEHRPLANPLUS BAYERN · GYMNASIUM · JGST. 9 · EV. RELIGIONSLEHRE</a:t>
            </a:r>
          </a:p>
        </p:txBody>
      </p:sp>
      <p:sp>
        <p:nvSpPr>
          <p:cNvPr id="4" name="TextBox 3"/>
          <p:cNvSpPr txBox="1"/>
          <p:nvPr/>
        </p:nvSpPr>
        <p:spPr>
          <a:xfrm>
            <a:off x="777240" y="1828800"/>
            <a:ext cx="9692640" cy="1828800"/>
          </a:xfrm>
          <a:prstGeom prst="rect">
            <a:avLst/>
          </a:prstGeom>
          <a:noFill/>
        </p:spPr>
        <p:txBody>
          <a:bodyPr wrap="square" anchor="t">
            <a:spAutoFit/>
          </a:bodyPr>
          <a:lstStyle/>
          <a:p>
            <a:pPr algn="l">
              <a:lnSpc>
                <a:spcPct val="105000"/>
              </a:lnSpc>
            </a:pPr>
            <a:r>
              <a:rPr sz="6000" b="1" i="0">
                <a:solidFill>
                  <a:srgbClr val="151A21"/>
                </a:solidFill>
                <a:latin typeface="Georgia"/>
              </a:rPr>
              <a:t>In Verantwortung vor Gott</a:t>
            </a:r>
          </a:p>
        </p:txBody>
      </p:sp>
      <p:sp>
        <p:nvSpPr>
          <p:cNvPr id="5" name="TextBox 4"/>
          <p:cNvSpPr txBox="1"/>
          <p:nvPr/>
        </p:nvSpPr>
        <p:spPr>
          <a:xfrm>
            <a:off x="777240" y="3749039"/>
            <a:ext cx="8595360" cy="1097280"/>
          </a:xfrm>
          <a:prstGeom prst="rect">
            <a:avLst/>
          </a:prstGeom>
          <a:noFill/>
        </p:spPr>
        <p:txBody>
          <a:bodyPr wrap="square" anchor="t">
            <a:spAutoFit/>
          </a:bodyPr>
          <a:lstStyle/>
          <a:p>
            <a:pPr algn="l">
              <a:lnSpc>
                <a:spcPct val="125000"/>
              </a:lnSpc>
            </a:pPr>
            <a:r>
              <a:rPr sz="2200" b="0" i="1">
                <a:solidFill>
                  <a:srgbClr val="4B5563"/>
                </a:solidFill>
                <a:latin typeface="Georgia"/>
              </a:rPr>
              <a:t>Sechs Doppelstunden über die Frage, wem man gehorcht,</a:t>
            </a:r>
          </a:p>
          <a:p>
            <a:pPr algn="l">
              <a:lnSpc>
                <a:spcPct val="125000"/>
              </a:lnSpc>
            </a:pPr>
            <a:r>
              <a:rPr sz="2200" b="0" i="1">
                <a:solidFill>
                  <a:srgbClr val="4B5563"/>
                </a:solidFill>
                <a:latin typeface="Georgia"/>
              </a:rPr>
              <a:t>wenn Staat und Gewissen auseinandergehen.</a:t>
            </a:r>
          </a:p>
        </p:txBody>
      </p:sp>
      <p:sp>
        <p:nvSpPr>
          <p:cNvPr id="6" name="TextBox 5"/>
          <p:cNvSpPr txBox="1"/>
          <p:nvPr/>
        </p:nvSpPr>
        <p:spPr>
          <a:xfrm>
            <a:off x="777240" y="5760720"/>
            <a:ext cx="10058400" cy="457200"/>
          </a:xfrm>
          <a:prstGeom prst="rect">
            <a:avLst/>
          </a:prstGeom>
          <a:noFill/>
        </p:spPr>
        <p:txBody>
          <a:bodyPr wrap="square" anchor="t">
            <a:spAutoFit/>
          </a:bodyPr>
          <a:lstStyle/>
          <a:p>
            <a:pPr algn="l">
              <a:lnSpc>
                <a:spcPct val="125000"/>
              </a:lnSpc>
            </a:pPr>
            <a:r>
              <a:rPr sz="1400" b="0" i="0" spc="120">
                <a:solidFill>
                  <a:srgbClr val="78828F"/>
                </a:solidFill>
                <a:latin typeface="Consolas"/>
              </a:rPr>
              <a:t>6 DOPPELSTUNDEN   ·   12 STUNDEN   ·   LERNBEREICH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777240" y="2103120"/>
            <a:ext cx="10058400" cy="457200"/>
          </a:xfrm>
          <a:prstGeom prst="rect">
            <a:avLst/>
          </a:prstGeom>
          <a:noFill/>
        </p:spPr>
        <p:txBody>
          <a:bodyPr wrap="square" anchor="t">
            <a:spAutoFit/>
          </a:bodyPr>
          <a:lstStyle/>
          <a:p>
            <a:pPr algn="l">
              <a:lnSpc>
                <a:spcPct val="125000"/>
              </a:lnSpc>
            </a:pPr>
            <a:r>
              <a:rPr sz="1500" b="0" i="0" spc="240">
                <a:solidFill>
                  <a:srgbClr val="9FBAD8"/>
                </a:solidFill>
                <a:latin typeface="Consolas"/>
              </a:rPr>
              <a:t>DOPPELSTUNDE 1</a:t>
            </a:r>
          </a:p>
        </p:txBody>
      </p:sp>
      <p:sp>
        <p:nvSpPr>
          <p:cNvPr id="3" name="TextBox 2"/>
          <p:cNvSpPr txBox="1"/>
          <p:nvPr/>
        </p:nvSpPr>
        <p:spPr>
          <a:xfrm>
            <a:off x="777240" y="2651760"/>
            <a:ext cx="10241280" cy="1463040"/>
          </a:xfrm>
          <a:prstGeom prst="rect">
            <a:avLst/>
          </a:prstGeom>
          <a:noFill/>
        </p:spPr>
        <p:txBody>
          <a:bodyPr wrap="square" anchor="t">
            <a:spAutoFit/>
          </a:bodyPr>
          <a:lstStyle/>
          <a:p>
            <a:pPr algn="l">
              <a:lnSpc>
                <a:spcPct val="105000"/>
              </a:lnSpc>
            </a:pPr>
            <a:r>
              <a:rPr sz="5400" b="1" i="0">
                <a:solidFill>
                  <a:srgbClr val="FFFFFF"/>
                </a:solidFill>
                <a:latin typeface="Georgia"/>
              </a:rPr>
              <a:t>Wo steckt Kirche im Staat?</a:t>
            </a:r>
          </a:p>
        </p:txBody>
      </p:sp>
      <p:sp>
        <p:nvSpPr>
          <p:cNvPr id="4" name="TextBox 3"/>
          <p:cNvSpPr txBox="1"/>
          <p:nvPr/>
        </p:nvSpPr>
        <p:spPr>
          <a:xfrm>
            <a:off x="777240" y="4206240"/>
            <a:ext cx="8778240" cy="1097280"/>
          </a:xfrm>
          <a:prstGeom prst="rect">
            <a:avLst/>
          </a:prstGeom>
          <a:noFill/>
        </p:spPr>
        <p:txBody>
          <a:bodyPr wrap="square" anchor="t">
            <a:spAutoFit/>
          </a:bodyPr>
          <a:lstStyle/>
          <a:p>
            <a:pPr algn="l">
              <a:lnSpc>
                <a:spcPct val="125000"/>
              </a:lnSpc>
            </a:pPr>
            <a:r>
              <a:rPr sz="2100" b="0" i="1">
                <a:solidFill>
                  <a:srgbClr val="C8D8EA"/>
                </a:solidFill>
                <a:latin typeface="Georgia"/>
              </a:rPr>
              <a:t>Eine Spurensuche im eigenen Alltag — mit dem Lohnzettel als Tatort.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1148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M1 · BILD 1 VON 7</a:t>
            </a:r>
          </a:p>
        </p:txBody>
      </p:sp>
      <p:sp>
        <p:nvSpPr>
          <p:cNvPr id="3" name="TextBox 2"/>
          <p:cNvSpPr txBox="1"/>
          <p:nvPr/>
        </p:nvSpPr>
        <p:spPr>
          <a:xfrm>
            <a:off x="777240" y="868680"/>
            <a:ext cx="10637215" cy="731520"/>
          </a:xfrm>
          <a:prstGeom prst="rect">
            <a:avLst/>
          </a:prstGeom>
          <a:noFill/>
        </p:spPr>
        <p:txBody>
          <a:bodyPr wrap="square" anchor="t">
            <a:spAutoFit/>
          </a:bodyPr>
          <a:lstStyle/>
          <a:p>
            <a:pPr algn="l">
              <a:lnSpc>
                <a:spcPct val="125000"/>
              </a:lnSpc>
            </a:pPr>
            <a:r>
              <a:rPr sz="3400" b="1" i="0">
                <a:solidFill>
                  <a:srgbClr val="151A21"/>
                </a:solidFill>
                <a:latin typeface="Georgia"/>
              </a:rPr>
              <a:t>Entgeltabrechnung · Muster · September</a:t>
            </a:r>
          </a:p>
        </p:txBody>
      </p:sp>
      <p:graphicFrame>
        <p:nvGraphicFramePr>
          <p:cNvPr id="4" name="Table 3"/>
          <p:cNvGraphicFramePr>
            <a:graphicFrameLocks noGrp="1"/>
          </p:cNvGraphicFramePr>
          <p:nvPr/>
        </p:nvGraphicFramePr>
        <p:xfrm>
          <a:off x="777240" y="1783080"/>
          <a:ext cx="10637214" cy="4206240"/>
        </p:xfrm>
        <a:graphic>
          <a:graphicData uri="http://schemas.openxmlformats.org/drawingml/2006/table">
            <a:tbl>
              <a:tblPr firstRow="1" bandRow="1">
                <a:tableStyleId>{5C22544A-7EE6-4342-B048-85BDC9FD1C3A}</a:tableStyleId>
              </a:tblPr>
              <a:tblGrid>
                <a:gridCol w="7091476"/>
                <a:gridCol w="3545738"/>
              </a:tblGrid>
              <a:tr h="701040">
                <a:tc>
                  <a:txBody>
                    <a:bodyPr/>
                    <a:lstStyle/>
                    <a:p>
                      <a:r>
                        <a:rPr sz="1300" b="1">
                          <a:solidFill>
                            <a:srgbClr val="FFFFFF"/>
                          </a:solidFill>
                          <a:latin typeface="Consolas"/>
                        </a:rPr>
                        <a:t>Position</a:t>
                      </a:r>
                    </a:p>
                  </a:txBody>
                  <a:tcPr>
                    <a:solidFill>
                      <a:srgbClr val="1E3A5F"/>
                    </a:solidFill>
                  </a:tcPr>
                </a:tc>
                <a:tc>
                  <a:txBody>
                    <a:bodyPr/>
                    <a:lstStyle/>
                    <a:p>
                      <a:r>
                        <a:rPr sz="1300" b="1">
                          <a:solidFill>
                            <a:srgbClr val="FFFFFF"/>
                          </a:solidFill>
                          <a:latin typeface="Consolas"/>
                        </a:rPr>
                        <a:t>Betrag</a:t>
                      </a:r>
                    </a:p>
                  </a:txBody>
                  <a:tcPr>
                    <a:solidFill>
                      <a:srgbClr val="1E3A5F"/>
                    </a:solidFill>
                  </a:tcPr>
                </a:tc>
              </a:tr>
              <a:tr h="701040">
                <a:tc>
                  <a:txBody>
                    <a:bodyPr/>
                    <a:lstStyle/>
                    <a:p>
                      <a:r>
                        <a:rPr sz="1700" b="1">
                          <a:solidFill>
                            <a:srgbClr val="151A21"/>
                          </a:solidFill>
                          <a:latin typeface="Consolas"/>
                        </a:rPr>
                        <a:t>Bruttoentgelt</a:t>
                      </a:r>
                    </a:p>
                  </a:txBody>
                  <a:tcPr>
                    <a:solidFill>
                      <a:srgbClr val="FFFFFF"/>
                    </a:solidFill>
                  </a:tcPr>
                </a:tc>
                <a:tc>
                  <a:txBody>
                    <a:bodyPr/>
                    <a:lstStyle/>
                    <a:p>
                      <a:r>
                        <a:rPr sz="1700" b="0">
                          <a:solidFill>
                            <a:srgbClr val="151A21"/>
                          </a:solidFill>
                          <a:latin typeface="Calibri"/>
                        </a:rPr>
                        <a:t>3.200,00 €</a:t>
                      </a:r>
                    </a:p>
                  </a:txBody>
                  <a:tcPr>
                    <a:solidFill>
                      <a:srgbClr val="FFFFFF"/>
                    </a:solidFill>
                  </a:tcPr>
                </a:tc>
              </a:tr>
              <a:tr h="701040">
                <a:tc>
                  <a:txBody>
                    <a:bodyPr/>
                    <a:lstStyle/>
                    <a:p>
                      <a:r>
                        <a:rPr sz="1700" b="1">
                          <a:solidFill>
                            <a:srgbClr val="151A21"/>
                          </a:solidFill>
                          <a:latin typeface="Consolas"/>
                        </a:rPr>
                        <a:t>Lohnsteuer</a:t>
                      </a:r>
                    </a:p>
                  </a:txBody>
                  <a:tcPr>
                    <a:solidFill>
                      <a:srgbClr val="F3F5F7"/>
                    </a:solidFill>
                  </a:tcPr>
                </a:tc>
                <a:tc>
                  <a:txBody>
                    <a:bodyPr/>
                    <a:lstStyle/>
                    <a:p>
                      <a:r>
                        <a:rPr sz="1700" b="0">
                          <a:solidFill>
                            <a:srgbClr val="151A21"/>
                          </a:solidFill>
                          <a:latin typeface="Calibri"/>
                        </a:rPr>
                        <a:t>− 430,25 €</a:t>
                      </a:r>
                    </a:p>
                  </a:txBody>
                  <a:tcPr>
                    <a:solidFill>
                      <a:srgbClr val="F3F5F7"/>
                    </a:solidFill>
                  </a:tcPr>
                </a:tc>
              </a:tr>
              <a:tr h="701040">
                <a:tc>
                  <a:txBody>
                    <a:bodyPr/>
                    <a:lstStyle/>
                    <a:p>
                      <a:r>
                        <a:rPr sz="1700" b="1">
                          <a:solidFill>
                            <a:srgbClr val="151A21"/>
                          </a:solidFill>
                          <a:latin typeface="Consolas"/>
                        </a:rPr>
                        <a:t>Kirchensteuer ev. (8 %)</a:t>
                      </a:r>
                    </a:p>
                  </a:txBody>
                  <a:tcPr>
                    <a:solidFill>
                      <a:srgbClr val="FFFFFF"/>
                    </a:solidFill>
                  </a:tcPr>
                </a:tc>
                <a:tc>
                  <a:txBody>
                    <a:bodyPr/>
                    <a:lstStyle/>
                    <a:p>
                      <a:r>
                        <a:rPr sz="1700" b="0">
                          <a:solidFill>
                            <a:srgbClr val="151A21"/>
                          </a:solidFill>
                          <a:latin typeface="Calibri"/>
                        </a:rPr>
                        <a:t>− 34,42 €</a:t>
                      </a:r>
                    </a:p>
                  </a:txBody>
                  <a:tcPr>
                    <a:solidFill>
                      <a:srgbClr val="FFFFFF"/>
                    </a:solidFill>
                  </a:tcPr>
                </a:tc>
              </a:tr>
              <a:tr h="701040">
                <a:tc>
                  <a:txBody>
                    <a:bodyPr/>
                    <a:lstStyle/>
                    <a:p>
                      <a:r>
                        <a:rPr sz="1700" b="1">
                          <a:solidFill>
                            <a:srgbClr val="151A21"/>
                          </a:solidFill>
                          <a:latin typeface="Consolas"/>
                        </a:rPr>
                        <a:t>Sozialversicherung</a:t>
                      </a:r>
                    </a:p>
                  </a:txBody>
                  <a:tcPr>
                    <a:solidFill>
                      <a:srgbClr val="F3F5F7"/>
                    </a:solidFill>
                  </a:tcPr>
                </a:tc>
                <a:tc>
                  <a:txBody>
                    <a:bodyPr/>
                    <a:lstStyle/>
                    <a:p>
                      <a:r>
                        <a:rPr sz="1700" b="0">
                          <a:solidFill>
                            <a:srgbClr val="151A21"/>
                          </a:solidFill>
                          <a:latin typeface="Calibri"/>
                        </a:rPr>
                        <a:t>− 665,60 €</a:t>
                      </a:r>
                    </a:p>
                  </a:txBody>
                  <a:tcPr>
                    <a:solidFill>
                      <a:srgbClr val="F3F5F7"/>
                    </a:solidFill>
                  </a:tcPr>
                </a:tc>
              </a:tr>
              <a:tr h="701040">
                <a:tc>
                  <a:txBody>
                    <a:bodyPr/>
                    <a:lstStyle/>
                    <a:p>
                      <a:r>
                        <a:rPr sz="1700" b="1">
                          <a:solidFill>
                            <a:srgbClr val="151A21"/>
                          </a:solidFill>
                          <a:latin typeface="Consolas"/>
                        </a:rPr>
                        <a:t>Auszahlungsbetrag</a:t>
                      </a:r>
                    </a:p>
                  </a:txBody>
                  <a:tcPr>
                    <a:solidFill>
                      <a:srgbClr val="FFFFFF"/>
                    </a:solidFill>
                  </a:tcPr>
                </a:tc>
                <a:tc>
                  <a:txBody>
                    <a:bodyPr/>
                    <a:lstStyle/>
                    <a:p>
                      <a:r>
                        <a:rPr sz="1700" b="0">
                          <a:solidFill>
                            <a:srgbClr val="151A21"/>
                          </a:solidFill>
                          <a:latin typeface="Calibri"/>
                        </a:rPr>
                        <a:t>2.069,73 €</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1148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M1 · BILD 2 VON 7</a:t>
            </a:r>
          </a:p>
        </p:txBody>
      </p:sp>
      <p:sp>
        <p:nvSpPr>
          <p:cNvPr id="3" name="TextBox 2"/>
          <p:cNvSpPr txBox="1"/>
          <p:nvPr/>
        </p:nvSpPr>
        <p:spPr>
          <a:xfrm>
            <a:off x="777240" y="868680"/>
            <a:ext cx="10637215" cy="731520"/>
          </a:xfrm>
          <a:prstGeom prst="rect">
            <a:avLst/>
          </a:prstGeom>
          <a:noFill/>
        </p:spPr>
        <p:txBody>
          <a:bodyPr wrap="square" anchor="t">
            <a:spAutoFit/>
          </a:bodyPr>
          <a:lstStyle/>
          <a:p>
            <a:pPr algn="l">
              <a:lnSpc>
                <a:spcPct val="125000"/>
              </a:lnSpc>
            </a:pPr>
            <a:r>
              <a:rPr sz="3400" b="1" i="0">
                <a:solidFill>
                  <a:srgbClr val="151A21"/>
                </a:solidFill>
                <a:latin typeface="Georgia"/>
              </a:rPr>
              <a:t>Stundenplan · Klasse 9</a:t>
            </a:r>
          </a:p>
        </p:txBody>
      </p:sp>
      <p:graphicFrame>
        <p:nvGraphicFramePr>
          <p:cNvPr id="4" name="Table 3"/>
          <p:cNvGraphicFramePr>
            <a:graphicFrameLocks noGrp="1"/>
          </p:cNvGraphicFramePr>
          <p:nvPr/>
        </p:nvGraphicFramePr>
        <p:xfrm>
          <a:off x="777240" y="1783080"/>
          <a:ext cx="10637210" cy="4206240"/>
        </p:xfrm>
        <a:graphic>
          <a:graphicData uri="http://schemas.openxmlformats.org/drawingml/2006/table">
            <a:tbl>
              <a:tblPr firstRow="1" bandRow="1">
                <a:tableStyleId>{5C22544A-7EE6-4342-B048-85BDC9FD1C3A}</a:tableStyleId>
              </a:tblPr>
              <a:tblGrid>
                <a:gridCol w="1329651"/>
                <a:gridCol w="2659303"/>
                <a:gridCol w="1329651"/>
                <a:gridCol w="2659303"/>
                <a:gridCol w="1329651"/>
                <a:gridCol w="1329651"/>
              </a:tblGrid>
              <a:tr h="701040">
                <a:tc>
                  <a:txBody>
                    <a:bodyPr/>
                    <a:lstStyle/>
                    <a:p>
                      <a:r>
                        <a:rPr sz="1300" b="1">
                          <a:solidFill>
                            <a:srgbClr val="FFFFFF"/>
                          </a:solidFill>
                          <a:latin typeface="Consolas"/>
                        </a:rPr>
                        <a:t>Std.</a:t>
                      </a:r>
                    </a:p>
                  </a:txBody>
                  <a:tcPr>
                    <a:solidFill>
                      <a:srgbClr val="1E3A5F"/>
                    </a:solidFill>
                  </a:tcPr>
                </a:tc>
                <a:tc>
                  <a:txBody>
                    <a:bodyPr/>
                    <a:lstStyle/>
                    <a:p>
                      <a:r>
                        <a:rPr sz="1300" b="1">
                          <a:solidFill>
                            <a:srgbClr val="FFFFFF"/>
                          </a:solidFill>
                          <a:latin typeface="Consolas"/>
                        </a:rPr>
                        <a:t>Mo</a:t>
                      </a:r>
                    </a:p>
                  </a:txBody>
                  <a:tcPr>
                    <a:solidFill>
                      <a:srgbClr val="1E3A5F"/>
                    </a:solidFill>
                  </a:tcPr>
                </a:tc>
                <a:tc>
                  <a:txBody>
                    <a:bodyPr/>
                    <a:lstStyle/>
                    <a:p>
                      <a:r>
                        <a:rPr sz="1300" b="1">
                          <a:solidFill>
                            <a:srgbClr val="FFFFFF"/>
                          </a:solidFill>
                          <a:latin typeface="Consolas"/>
                        </a:rPr>
                        <a:t>Di</a:t>
                      </a:r>
                    </a:p>
                  </a:txBody>
                  <a:tcPr>
                    <a:solidFill>
                      <a:srgbClr val="1E3A5F"/>
                    </a:solidFill>
                  </a:tcPr>
                </a:tc>
                <a:tc>
                  <a:txBody>
                    <a:bodyPr/>
                    <a:lstStyle/>
                    <a:p>
                      <a:r>
                        <a:rPr sz="1300" b="1">
                          <a:solidFill>
                            <a:srgbClr val="FFFFFF"/>
                          </a:solidFill>
                          <a:latin typeface="Consolas"/>
                        </a:rPr>
                        <a:t>Mi</a:t>
                      </a:r>
                    </a:p>
                  </a:txBody>
                  <a:tcPr>
                    <a:solidFill>
                      <a:srgbClr val="1E3A5F"/>
                    </a:solidFill>
                  </a:tcPr>
                </a:tc>
                <a:tc>
                  <a:txBody>
                    <a:bodyPr/>
                    <a:lstStyle/>
                    <a:p>
                      <a:r>
                        <a:rPr sz="1300" b="1">
                          <a:solidFill>
                            <a:srgbClr val="FFFFFF"/>
                          </a:solidFill>
                          <a:latin typeface="Consolas"/>
                        </a:rPr>
                        <a:t>Do</a:t>
                      </a:r>
                    </a:p>
                  </a:txBody>
                  <a:tcPr>
                    <a:solidFill>
                      <a:srgbClr val="1E3A5F"/>
                    </a:solidFill>
                  </a:tcPr>
                </a:tc>
                <a:tc>
                  <a:txBody>
                    <a:bodyPr/>
                    <a:lstStyle/>
                    <a:p>
                      <a:r>
                        <a:rPr sz="1300" b="1">
                          <a:solidFill>
                            <a:srgbClr val="FFFFFF"/>
                          </a:solidFill>
                          <a:latin typeface="Consolas"/>
                        </a:rPr>
                        <a:t>Fr</a:t>
                      </a:r>
                    </a:p>
                  </a:txBody>
                  <a:tcPr>
                    <a:solidFill>
                      <a:srgbClr val="1E3A5F"/>
                    </a:solidFill>
                  </a:tcPr>
                </a:tc>
              </a:tr>
              <a:tr h="701040">
                <a:tc>
                  <a:txBody>
                    <a:bodyPr/>
                    <a:lstStyle/>
                    <a:p>
                      <a:r>
                        <a:rPr sz="1500" b="1">
                          <a:solidFill>
                            <a:srgbClr val="151A21"/>
                          </a:solidFill>
                          <a:latin typeface="Consolas"/>
                        </a:rPr>
                        <a:t>1.</a:t>
                      </a:r>
                    </a:p>
                  </a:txBody>
                  <a:tcPr>
                    <a:solidFill>
                      <a:srgbClr val="FFFFFF"/>
                    </a:solidFill>
                  </a:tcPr>
                </a:tc>
                <a:tc>
                  <a:txBody>
                    <a:bodyPr/>
                    <a:lstStyle/>
                    <a:p>
                      <a:r>
                        <a:rPr sz="1500" b="0">
                          <a:solidFill>
                            <a:srgbClr val="151A21"/>
                          </a:solidFill>
                          <a:latin typeface="Calibri"/>
                        </a:rPr>
                        <a:t>D</a:t>
                      </a:r>
                    </a:p>
                  </a:txBody>
                  <a:tcPr>
                    <a:solidFill>
                      <a:srgbClr val="FFFFFF"/>
                    </a:solidFill>
                  </a:tcPr>
                </a:tc>
                <a:tc>
                  <a:txBody>
                    <a:bodyPr/>
                    <a:lstStyle/>
                    <a:p>
                      <a:r>
                        <a:rPr sz="1500" b="0">
                          <a:solidFill>
                            <a:srgbClr val="151A21"/>
                          </a:solidFill>
                          <a:latin typeface="Calibri"/>
                        </a:rPr>
                        <a:t>M</a:t>
                      </a:r>
                    </a:p>
                  </a:txBody>
                  <a:tcPr>
                    <a:solidFill>
                      <a:srgbClr val="FFFFFF"/>
                    </a:solidFill>
                  </a:tcPr>
                </a:tc>
                <a:tc>
                  <a:txBody>
                    <a:bodyPr/>
                    <a:lstStyle/>
                    <a:p>
                      <a:r>
                        <a:rPr sz="1500" b="0">
                          <a:solidFill>
                            <a:srgbClr val="151A21"/>
                          </a:solidFill>
                          <a:latin typeface="Calibri"/>
                        </a:rPr>
                        <a:t>E</a:t>
                      </a:r>
                    </a:p>
                  </a:txBody>
                  <a:tcPr>
                    <a:solidFill>
                      <a:srgbClr val="FFFFFF"/>
                    </a:solidFill>
                  </a:tcPr>
                </a:tc>
                <a:tc>
                  <a:txBody>
                    <a:bodyPr/>
                    <a:lstStyle/>
                    <a:p>
                      <a:r>
                        <a:rPr sz="1500" b="0">
                          <a:solidFill>
                            <a:srgbClr val="151A21"/>
                          </a:solidFill>
                          <a:latin typeface="Calibri"/>
                        </a:rPr>
                        <a:t>Ph</a:t>
                      </a:r>
                    </a:p>
                  </a:txBody>
                  <a:tcPr>
                    <a:solidFill>
                      <a:srgbClr val="FFFFFF"/>
                    </a:solidFill>
                  </a:tcPr>
                </a:tc>
                <a:tc>
                  <a:txBody>
                    <a:bodyPr/>
                    <a:lstStyle/>
                    <a:p>
                      <a:r>
                        <a:rPr sz="1500" b="0">
                          <a:solidFill>
                            <a:srgbClr val="151A21"/>
                          </a:solidFill>
                          <a:latin typeface="Calibri"/>
                        </a:rPr>
                        <a:t>D</a:t>
                      </a:r>
                    </a:p>
                  </a:txBody>
                  <a:tcPr>
                    <a:solidFill>
                      <a:srgbClr val="FFFFFF"/>
                    </a:solidFill>
                  </a:tcPr>
                </a:tc>
              </a:tr>
              <a:tr h="701040">
                <a:tc>
                  <a:txBody>
                    <a:bodyPr/>
                    <a:lstStyle/>
                    <a:p>
                      <a:r>
                        <a:rPr sz="1500" b="1">
                          <a:solidFill>
                            <a:srgbClr val="151A21"/>
                          </a:solidFill>
                          <a:latin typeface="Consolas"/>
                        </a:rPr>
                        <a:t>2.</a:t>
                      </a:r>
                    </a:p>
                  </a:txBody>
                  <a:tcPr>
                    <a:solidFill>
                      <a:srgbClr val="F3F5F7"/>
                    </a:solidFill>
                  </a:tcPr>
                </a:tc>
                <a:tc>
                  <a:txBody>
                    <a:bodyPr/>
                    <a:lstStyle/>
                    <a:p>
                      <a:r>
                        <a:rPr sz="1500" b="0">
                          <a:solidFill>
                            <a:srgbClr val="151A21"/>
                          </a:solidFill>
                          <a:latin typeface="Calibri"/>
                        </a:rPr>
                        <a:t>M</a:t>
                      </a:r>
                    </a:p>
                  </a:txBody>
                  <a:tcPr>
                    <a:solidFill>
                      <a:srgbClr val="F3F5F7"/>
                    </a:solidFill>
                  </a:tcPr>
                </a:tc>
                <a:tc>
                  <a:txBody>
                    <a:bodyPr/>
                    <a:lstStyle/>
                    <a:p>
                      <a:r>
                        <a:rPr sz="1500" b="0">
                          <a:solidFill>
                            <a:srgbClr val="151A21"/>
                          </a:solidFill>
                          <a:latin typeface="Calibri"/>
                        </a:rPr>
                        <a:t>E</a:t>
                      </a:r>
                    </a:p>
                  </a:txBody>
                  <a:tcPr>
                    <a:solidFill>
                      <a:srgbClr val="F3F5F7"/>
                    </a:solidFill>
                  </a:tcPr>
                </a:tc>
                <a:tc>
                  <a:txBody>
                    <a:bodyPr/>
                    <a:lstStyle/>
                    <a:p>
                      <a:r>
                        <a:rPr sz="1500" b="0">
                          <a:solidFill>
                            <a:srgbClr val="151A21"/>
                          </a:solidFill>
                          <a:latin typeface="Calibri"/>
                        </a:rPr>
                        <a:t>Ge</a:t>
                      </a:r>
                    </a:p>
                  </a:txBody>
                  <a:tcPr>
                    <a:solidFill>
                      <a:srgbClr val="F3F5F7"/>
                    </a:solidFill>
                  </a:tcPr>
                </a:tc>
                <a:tc>
                  <a:txBody>
                    <a:bodyPr/>
                    <a:lstStyle/>
                    <a:p>
                      <a:r>
                        <a:rPr sz="1500" b="0">
                          <a:solidFill>
                            <a:srgbClr val="151A21"/>
                          </a:solidFill>
                          <a:latin typeface="Calibri"/>
                        </a:rPr>
                        <a:t>M</a:t>
                      </a:r>
                    </a:p>
                  </a:txBody>
                  <a:tcPr>
                    <a:solidFill>
                      <a:srgbClr val="F3F5F7"/>
                    </a:solidFill>
                  </a:tcPr>
                </a:tc>
                <a:tc>
                  <a:txBody>
                    <a:bodyPr/>
                    <a:lstStyle/>
                    <a:p>
                      <a:r>
                        <a:rPr sz="1500" b="0">
                          <a:solidFill>
                            <a:srgbClr val="151A21"/>
                          </a:solidFill>
                          <a:latin typeface="Calibri"/>
                        </a:rPr>
                        <a:t>Sp</a:t>
                      </a:r>
                    </a:p>
                  </a:txBody>
                  <a:tcPr>
                    <a:solidFill>
                      <a:srgbClr val="F3F5F7"/>
                    </a:solidFill>
                  </a:tcPr>
                </a:tc>
              </a:tr>
              <a:tr h="701040">
                <a:tc>
                  <a:txBody>
                    <a:bodyPr/>
                    <a:lstStyle/>
                    <a:p>
                      <a:r>
                        <a:rPr sz="1500" b="1">
                          <a:solidFill>
                            <a:srgbClr val="151A21"/>
                          </a:solidFill>
                          <a:latin typeface="Consolas"/>
                        </a:rPr>
                        <a:t>3.</a:t>
                      </a:r>
                    </a:p>
                  </a:txBody>
                  <a:tcPr>
                    <a:solidFill>
                      <a:srgbClr val="FFFFFF"/>
                    </a:solidFill>
                  </a:tcPr>
                </a:tc>
                <a:tc>
                  <a:txBody>
                    <a:bodyPr/>
                    <a:lstStyle/>
                    <a:p>
                      <a:r>
                        <a:rPr sz="1500" b="0">
                          <a:solidFill>
                            <a:srgbClr val="151A21"/>
                          </a:solidFill>
                          <a:latin typeface="Calibri"/>
                        </a:rPr>
                        <a:t>Ev / K / Eth</a:t>
                      </a:r>
                    </a:p>
                  </a:txBody>
                  <a:tcPr>
                    <a:solidFill>
                      <a:srgbClr val="FFFFFF"/>
                    </a:solidFill>
                  </a:tcPr>
                </a:tc>
                <a:tc>
                  <a:txBody>
                    <a:bodyPr/>
                    <a:lstStyle/>
                    <a:p>
                      <a:r>
                        <a:rPr sz="1500" b="0">
                          <a:solidFill>
                            <a:srgbClr val="151A21"/>
                          </a:solidFill>
                          <a:latin typeface="Calibri"/>
                        </a:rPr>
                        <a:t>Ch</a:t>
                      </a:r>
                    </a:p>
                  </a:txBody>
                  <a:tcPr>
                    <a:solidFill>
                      <a:srgbClr val="FFFFFF"/>
                    </a:solidFill>
                  </a:tcPr>
                </a:tc>
                <a:tc>
                  <a:txBody>
                    <a:bodyPr/>
                    <a:lstStyle/>
                    <a:p>
                      <a:r>
                        <a:rPr sz="1500" b="0">
                          <a:solidFill>
                            <a:srgbClr val="151A21"/>
                          </a:solidFill>
                          <a:latin typeface="Calibri"/>
                        </a:rPr>
                        <a:t>D</a:t>
                      </a:r>
                    </a:p>
                  </a:txBody>
                  <a:tcPr>
                    <a:solidFill>
                      <a:srgbClr val="FFFFFF"/>
                    </a:solidFill>
                  </a:tcPr>
                </a:tc>
                <a:tc>
                  <a:txBody>
                    <a:bodyPr/>
                    <a:lstStyle/>
                    <a:p>
                      <a:r>
                        <a:rPr sz="1500" b="0">
                          <a:solidFill>
                            <a:srgbClr val="151A21"/>
                          </a:solidFill>
                          <a:latin typeface="Calibri"/>
                        </a:rPr>
                        <a:t>E</a:t>
                      </a:r>
                    </a:p>
                  </a:txBody>
                  <a:tcPr>
                    <a:solidFill>
                      <a:srgbClr val="FFFFFF"/>
                    </a:solidFill>
                  </a:tcPr>
                </a:tc>
                <a:tc>
                  <a:txBody>
                    <a:bodyPr/>
                    <a:lstStyle/>
                    <a:p>
                      <a:r>
                        <a:rPr sz="1500" b="0">
                          <a:solidFill>
                            <a:srgbClr val="151A21"/>
                          </a:solidFill>
                          <a:latin typeface="Calibri"/>
                        </a:rPr>
                        <a:t>Ku</a:t>
                      </a:r>
                    </a:p>
                  </a:txBody>
                  <a:tcPr>
                    <a:solidFill>
                      <a:srgbClr val="FFFFFF"/>
                    </a:solidFill>
                  </a:tcPr>
                </a:tc>
              </a:tr>
              <a:tr h="701040">
                <a:tc>
                  <a:txBody>
                    <a:bodyPr/>
                    <a:lstStyle/>
                    <a:p>
                      <a:r>
                        <a:rPr sz="1500" b="1">
                          <a:solidFill>
                            <a:srgbClr val="151A21"/>
                          </a:solidFill>
                          <a:latin typeface="Consolas"/>
                        </a:rPr>
                        <a:t>4.</a:t>
                      </a:r>
                    </a:p>
                  </a:txBody>
                  <a:tcPr>
                    <a:solidFill>
                      <a:srgbClr val="F3F5F7"/>
                    </a:solidFill>
                  </a:tcPr>
                </a:tc>
                <a:tc>
                  <a:txBody>
                    <a:bodyPr/>
                    <a:lstStyle/>
                    <a:p>
                      <a:r>
                        <a:rPr sz="1500" b="0">
                          <a:solidFill>
                            <a:srgbClr val="151A21"/>
                          </a:solidFill>
                          <a:latin typeface="Calibri"/>
                        </a:rPr>
                        <a:t>Bio</a:t>
                      </a:r>
                    </a:p>
                  </a:txBody>
                  <a:tcPr>
                    <a:solidFill>
                      <a:srgbClr val="F3F5F7"/>
                    </a:solidFill>
                  </a:tcPr>
                </a:tc>
                <a:tc>
                  <a:txBody>
                    <a:bodyPr/>
                    <a:lstStyle/>
                    <a:p>
                      <a:r>
                        <a:rPr sz="1500" b="0">
                          <a:solidFill>
                            <a:srgbClr val="151A21"/>
                          </a:solidFill>
                          <a:latin typeface="Calibri"/>
                        </a:rPr>
                        <a:t>D</a:t>
                      </a:r>
                    </a:p>
                  </a:txBody>
                  <a:tcPr>
                    <a:solidFill>
                      <a:srgbClr val="F3F5F7"/>
                    </a:solidFill>
                  </a:tcPr>
                </a:tc>
                <a:tc>
                  <a:txBody>
                    <a:bodyPr/>
                    <a:lstStyle/>
                    <a:p>
                      <a:r>
                        <a:rPr sz="1500" b="0">
                          <a:solidFill>
                            <a:srgbClr val="151A21"/>
                          </a:solidFill>
                          <a:latin typeface="Calibri"/>
                        </a:rPr>
                        <a:t>Ev / K / Eth</a:t>
                      </a:r>
                    </a:p>
                  </a:txBody>
                  <a:tcPr>
                    <a:solidFill>
                      <a:srgbClr val="F3F5F7"/>
                    </a:solidFill>
                  </a:tcPr>
                </a:tc>
                <a:tc>
                  <a:txBody>
                    <a:bodyPr/>
                    <a:lstStyle/>
                    <a:p>
                      <a:r>
                        <a:rPr sz="1500" b="0">
                          <a:solidFill>
                            <a:srgbClr val="151A21"/>
                          </a:solidFill>
                          <a:latin typeface="Calibri"/>
                        </a:rPr>
                        <a:t>Ge</a:t>
                      </a:r>
                    </a:p>
                  </a:txBody>
                  <a:tcPr>
                    <a:solidFill>
                      <a:srgbClr val="F3F5F7"/>
                    </a:solidFill>
                  </a:tcPr>
                </a:tc>
                <a:tc>
                  <a:txBody>
                    <a:bodyPr/>
                    <a:lstStyle/>
                    <a:p>
                      <a:r>
                        <a:rPr sz="1500" b="0">
                          <a:solidFill>
                            <a:srgbClr val="151A21"/>
                          </a:solidFill>
                          <a:latin typeface="Calibri"/>
                        </a:rPr>
                        <a:t>M</a:t>
                      </a:r>
                    </a:p>
                  </a:txBody>
                  <a:tcPr>
                    <a:solidFill>
                      <a:srgbClr val="F3F5F7"/>
                    </a:solidFill>
                  </a:tcPr>
                </a:tc>
              </a:tr>
              <a:tr h="701040">
                <a:tc>
                  <a:txBody>
                    <a:bodyPr/>
                    <a:lstStyle/>
                    <a:p>
                      <a:r>
                        <a:rPr sz="1500" b="1">
                          <a:solidFill>
                            <a:srgbClr val="151A21"/>
                          </a:solidFill>
                          <a:latin typeface="Consolas"/>
                        </a:rPr>
                        <a:t>5.</a:t>
                      </a:r>
                    </a:p>
                  </a:txBody>
                  <a:tcPr>
                    <a:solidFill>
                      <a:srgbClr val="FFFFFF"/>
                    </a:solidFill>
                  </a:tcPr>
                </a:tc>
                <a:tc>
                  <a:txBody>
                    <a:bodyPr/>
                    <a:lstStyle/>
                    <a:p>
                      <a:r>
                        <a:rPr sz="1500" b="0">
                          <a:solidFill>
                            <a:srgbClr val="151A21"/>
                          </a:solidFill>
                          <a:latin typeface="Calibri"/>
                        </a:rPr>
                        <a:t>Sp</a:t>
                      </a:r>
                    </a:p>
                  </a:txBody>
                  <a:tcPr>
                    <a:solidFill>
                      <a:srgbClr val="FFFFFF"/>
                    </a:solidFill>
                  </a:tcPr>
                </a:tc>
                <a:tc>
                  <a:txBody>
                    <a:bodyPr/>
                    <a:lstStyle/>
                    <a:p>
                      <a:r>
                        <a:rPr sz="1500" b="0">
                          <a:solidFill>
                            <a:srgbClr val="151A21"/>
                          </a:solidFill>
                          <a:latin typeface="Calibri"/>
                        </a:rPr>
                        <a:t>Geo</a:t>
                      </a:r>
                    </a:p>
                  </a:txBody>
                  <a:tcPr>
                    <a:solidFill>
                      <a:srgbClr val="FFFFFF"/>
                    </a:solidFill>
                  </a:tcPr>
                </a:tc>
                <a:tc>
                  <a:txBody>
                    <a:bodyPr/>
                    <a:lstStyle/>
                    <a:p>
                      <a:r>
                        <a:rPr sz="1500" b="0">
                          <a:solidFill>
                            <a:srgbClr val="151A21"/>
                          </a:solidFill>
                          <a:latin typeface="Calibri"/>
                        </a:rPr>
                        <a:t>M</a:t>
                      </a:r>
                    </a:p>
                  </a:txBody>
                  <a:tcPr>
                    <a:solidFill>
                      <a:srgbClr val="FFFFFF"/>
                    </a:solidFill>
                  </a:tcPr>
                </a:tc>
                <a:tc>
                  <a:txBody>
                    <a:bodyPr/>
                    <a:lstStyle/>
                    <a:p>
                      <a:r>
                        <a:rPr sz="1500" b="0">
                          <a:solidFill>
                            <a:srgbClr val="151A21"/>
                          </a:solidFill>
                          <a:latin typeface="Calibri"/>
                        </a:rPr>
                        <a:t>Inf</a:t>
                      </a:r>
                    </a:p>
                  </a:txBody>
                  <a:tcPr>
                    <a:solidFill>
                      <a:srgbClr val="FFFFFF"/>
                    </a:solidFill>
                  </a:tcPr>
                </a:tc>
                <a:tc>
                  <a:txBody>
                    <a:bodyPr/>
                    <a:lstStyle/>
                    <a:p>
                      <a:r>
                        <a:rPr sz="1500" b="0">
                          <a:solidFill>
                            <a:srgbClr val="151A21"/>
                          </a:solidFill>
                          <a:latin typeface="Calibri"/>
                        </a:rPr>
                        <a:t>E</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1A21"/>
        </a:solidFill>
        <a:effectLst/>
      </p:bgPr>
    </p:bg>
    <p:spTree>
      <p:nvGrpSpPr>
        <p:cNvPr id="1" name=""/>
        <p:cNvGrpSpPr/>
        <p:nvPr/>
      </p:nvGrpSpPr>
      <p:grpSpPr/>
      <p:pic>
        <p:nvPicPr>
          <p:cNvPr id="2" name="Picture 1" descr="image.jpg"/>
          <p:cNvPicPr>
            <a:picLocks noChangeAspect="1"/>
          </p:cNvPicPr>
          <p:nvPr/>
        </p:nvPicPr>
        <p:blipFill>
          <a:blip r:embed="rId2"/>
          <a:srcRect t="15808" b="15808"/>
          <a:stretch>
            <a:fillRect/>
          </a:stretch>
        </p:blipFill>
        <p:spPr>
          <a:xfrm>
            <a:off x="0" y="0"/>
            <a:ext cx="12191695" cy="5532120"/>
          </a:xfrm>
          <a:prstGeom prst="rect">
            <a:avLst/>
          </a:prstGeom>
        </p:spPr>
      </p:pic>
      <p:sp>
        <p:nvSpPr>
          <p:cNvPr id="3" name="Rectangle 2"/>
          <p:cNvSpPr/>
          <p:nvPr/>
        </p:nvSpPr>
        <p:spPr>
          <a:xfrm>
            <a:off x="320040" y="274320"/>
            <a:ext cx="1371600" cy="384048"/>
          </a:xfrm>
          <a:prstGeom prst="rect">
            <a:avLst/>
          </a:prstGeom>
          <a:solidFill>
            <a:srgbClr val="151A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11480" y="310896"/>
            <a:ext cx="1280160" cy="320040"/>
          </a:xfrm>
          <a:prstGeom prst="rect">
            <a:avLst/>
          </a:prstGeom>
          <a:noFill/>
        </p:spPr>
        <p:txBody>
          <a:bodyPr wrap="square" anchor="t">
            <a:spAutoFit/>
          </a:bodyPr>
          <a:lstStyle/>
          <a:p>
            <a:pPr algn="l">
              <a:lnSpc>
                <a:spcPct val="125000"/>
              </a:lnSpc>
            </a:pPr>
            <a:r>
              <a:rPr sz="1200" b="0" i="0" spc="140">
                <a:solidFill>
                  <a:srgbClr val="FFFFFF"/>
                </a:solidFill>
                <a:latin typeface="Consolas"/>
              </a:rPr>
              <a:t>M1 · 3 VON 7</a:t>
            </a:r>
          </a:p>
        </p:txBody>
      </p:sp>
      <p:sp>
        <p:nvSpPr>
          <p:cNvPr id="5" name="TextBox 4"/>
          <p:cNvSpPr txBox="1"/>
          <p:nvPr/>
        </p:nvSpPr>
        <p:spPr>
          <a:xfrm>
            <a:off x="777240" y="5760720"/>
            <a:ext cx="10637215" cy="914400"/>
          </a:xfrm>
          <a:prstGeom prst="rect">
            <a:avLst/>
          </a:prstGeom>
          <a:noFill/>
        </p:spPr>
        <p:txBody>
          <a:bodyPr wrap="square" anchor="t">
            <a:spAutoFit/>
          </a:bodyPr>
          <a:lstStyle/>
          <a:p>
            <a:pPr algn="l">
              <a:lnSpc>
                <a:spcPct val="125000"/>
              </a:lnSpc>
            </a:pPr>
            <a:r>
              <a:rPr sz="1700" b="0" i="0">
                <a:solidFill>
                  <a:srgbClr val="D8DDE4"/>
                </a:solidFill>
                <a:latin typeface="Calibri"/>
              </a:rPr>
              <a:t>Ein evangelischer und ein katholischer Militärgeistlicher bei einer Gedenkfeier im Auslandseinsatz. Stola über dem Feldanzug — und keine Waffe.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51A21"/>
        </a:solidFill>
        <a:effectLst/>
      </p:bgPr>
    </p:bg>
    <p:spTree>
      <p:nvGrpSpPr>
        <p:cNvPr id="1" name=""/>
        <p:cNvGrpSpPr/>
        <p:nvPr/>
      </p:nvGrpSpPr>
      <p:grpSpPr/>
      <p:pic>
        <p:nvPicPr>
          <p:cNvPr id="2" name="Picture 1" descr="image.jpg"/>
          <p:cNvPicPr>
            <a:picLocks noChangeAspect="1"/>
          </p:cNvPicPr>
          <p:nvPr/>
        </p:nvPicPr>
        <p:blipFill>
          <a:blip r:embed="rId2"/>
          <a:srcRect t="16127" b="16127"/>
          <a:stretch>
            <a:fillRect/>
          </a:stretch>
        </p:blipFill>
        <p:spPr>
          <a:xfrm>
            <a:off x="0" y="0"/>
            <a:ext cx="12191695" cy="5532120"/>
          </a:xfrm>
          <a:prstGeom prst="rect">
            <a:avLst/>
          </a:prstGeom>
        </p:spPr>
      </p:pic>
      <p:sp>
        <p:nvSpPr>
          <p:cNvPr id="3" name="Rectangle 2"/>
          <p:cNvSpPr/>
          <p:nvPr/>
        </p:nvSpPr>
        <p:spPr>
          <a:xfrm>
            <a:off x="320040" y="274320"/>
            <a:ext cx="1371600" cy="384048"/>
          </a:xfrm>
          <a:prstGeom prst="rect">
            <a:avLst/>
          </a:prstGeom>
          <a:solidFill>
            <a:srgbClr val="151A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11480" y="310896"/>
            <a:ext cx="1280160" cy="320040"/>
          </a:xfrm>
          <a:prstGeom prst="rect">
            <a:avLst/>
          </a:prstGeom>
          <a:noFill/>
        </p:spPr>
        <p:txBody>
          <a:bodyPr wrap="square" anchor="t">
            <a:spAutoFit/>
          </a:bodyPr>
          <a:lstStyle/>
          <a:p>
            <a:pPr algn="l">
              <a:lnSpc>
                <a:spcPct val="125000"/>
              </a:lnSpc>
            </a:pPr>
            <a:r>
              <a:rPr sz="1200" b="0" i="0" spc="140">
                <a:solidFill>
                  <a:srgbClr val="FFFFFF"/>
                </a:solidFill>
                <a:latin typeface="Consolas"/>
              </a:rPr>
              <a:t>M1 · 4 VON 7</a:t>
            </a:r>
          </a:p>
        </p:txBody>
      </p:sp>
      <p:sp>
        <p:nvSpPr>
          <p:cNvPr id="5" name="TextBox 4"/>
          <p:cNvSpPr txBox="1"/>
          <p:nvPr/>
        </p:nvSpPr>
        <p:spPr>
          <a:xfrm>
            <a:off x="777240" y="5760720"/>
            <a:ext cx="10637215" cy="914400"/>
          </a:xfrm>
          <a:prstGeom prst="rect">
            <a:avLst/>
          </a:prstGeom>
          <a:noFill/>
        </p:spPr>
        <p:txBody>
          <a:bodyPr wrap="square" anchor="t">
            <a:spAutoFit/>
          </a:bodyPr>
          <a:lstStyle/>
          <a:p>
            <a:pPr algn="l">
              <a:lnSpc>
                <a:spcPct val="125000"/>
              </a:lnSpc>
            </a:pPr>
            <a:r>
              <a:rPr sz="1700" b="0" i="0">
                <a:solidFill>
                  <a:srgbClr val="D8DDE4"/>
                </a:solidFill>
                <a:latin typeface="Calibri"/>
              </a:rPr>
              <a:t>Geschäftsstelle der Diakonie in München. Das Zeichen an der Wand ist das Kronenkreuz.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M1 · BILD 5 VON 7</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3200" b="0" i="0">
                <a:solidFill>
                  <a:srgbClr val="151A21"/>
                </a:solidFill>
                <a:latin typeface="Georgia"/>
              </a:rPr>
              <a:t>An </a:t>
            </a:r>
            <a:r>
              <a:rPr sz="3200" b="1">
                <a:solidFill>
                  <a:srgbClr val="8C2A24"/>
                </a:solidFill>
                <a:latin typeface="Georgia"/>
              </a:rPr>
              <a:t>stillen Tagen</a:t>
            </a:r>
            <a:r>
              <a:rPr sz="3200">
                <a:solidFill>
                  <a:srgbClr val="151A21"/>
                </a:solidFill>
                <a:latin typeface="Georgia"/>
              </a:rPr>
              <a:t> — dazu gehört in Bayern der Karfreitag ganztägig — sind öffentliche Unterhaltungsveranstaltungen untersagt, sofern sie dem ernsten Charakter dieser Tage widersprechen.</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Zusammenfassung der Regelung des Bayerischen Feiertagsgesetzes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M1 · BILD 6 VON 7</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3200" b="0" i="0">
                <a:solidFill>
                  <a:srgbClr val="151A21"/>
                </a:solidFill>
                <a:latin typeface="Georgia"/>
              </a:rPr>
              <a:t>„Ich schwöre, dass ich meine Kraft dem Wohle des deutschen Volkes widmen … werde. </a:t>
            </a:r>
            <a:r>
              <a:rPr sz="3200" b="1">
                <a:solidFill>
                  <a:srgbClr val="8C2A24"/>
                </a:solidFill>
                <a:latin typeface="Georgia"/>
              </a:rPr>
              <a:t>So wahr mir Gott helfe.</a:t>
            </a:r>
            <a:r>
              <a:rPr sz="3200">
                <a:solidFill>
                  <a:srgbClr val="151A21"/>
                </a:solidFill>
                <a:latin typeface="Georgia"/>
              </a:rPr>
              <a:t>“</a:t>
            </a:r>
          </a:p>
          <a:p>
            <a:pPr algn="l">
              <a:lnSpc>
                <a:spcPct val="132000"/>
              </a:lnSpc>
            </a:pPr>
            <a:r>
              <a:rPr sz="3200" b="0" i="0">
                <a:solidFill>
                  <a:srgbClr val="151A21"/>
                </a:solidFill>
                <a:latin typeface="Georgia"/>
              </a:rPr>
              <a:t/>
            </a:r>
          </a:p>
          <a:p>
            <a:pPr algn="l">
              <a:lnSpc>
                <a:spcPct val="132000"/>
              </a:lnSpc>
            </a:pPr>
            <a:r>
              <a:rPr sz="3200" b="0" i="0">
                <a:solidFill>
                  <a:srgbClr val="151A21"/>
                </a:solidFill>
                <a:latin typeface="Georgia"/>
              </a:rPr>
              <a:t>Der Eid kann auch ohne religiöse Beteuerung geleistet werden.</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Amtseid nach Artikel 56 des Grundgesetzes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1A21"/>
        </a:solidFill>
        <a:effectLst/>
      </p:bgPr>
    </p:bg>
    <p:spTree>
      <p:nvGrpSpPr>
        <p:cNvPr id="1" name=""/>
        <p:cNvGrpSpPr/>
        <p:nvPr/>
      </p:nvGrpSpPr>
      <p:grpSpPr/>
      <p:pic>
        <p:nvPicPr>
          <p:cNvPr id="2" name="Picture 1" descr="image.jpg"/>
          <p:cNvPicPr>
            <a:picLocks noChangeAspect="1"/>
          </p:cNvPicPr>
          <p:nvPr/>
        </p:nvPicPr>
        <p:blipFill>
          <a:blip r:embed="rId2"/>
          <a:srcRect t="9666" b="9666"/>
          <a:stretch>
            <a:fillRect/>
          </a:stretch>
        </p:blipFill>
        <p:spPr>
          <a:xfrm>
            <a:off x="0" y="0"/>
            <a:ext cx="12191695" cy="5532120"/>
          </a:xfrm>
          <a:prstGeom prst="rect">
            <a:avLst/>
          </a:prstGeom>
        </p:spPr>
      </p:pic>
      <p:sp>
        <p:nvSpPr>
          <p:cNvPr id="3" name="Rectangle 2"/>
          <p:cNvSpPr/>
          <p:nvPr/>
        </p:nvSpPr>
        <p:spPr>
          <a:xfrm>
            <a:off x="320040" y="274320"/>
            <a:ext cx="1371600" cy="384048"/>
          </a:xfrm>
          <a:prstGeom prst="rect">
            <a:avLst/>
          </a:prstGeom>
          <a:solidFill>
            <a:srgbClr val="151A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11480" y="310896"/>
            <a:ext cx="1280160" cy="320040"/>
          </a:xfrm>
          <a:prstGeom prst="rect">
            <a:avLst/>
          </a:prstGeom>
          <a:noFill/>
        </p:spPr>
        <p:txBody>
          <a:bodyPr wrap="square" anchor="t">
            <a:spAutoFit/>
          </a:bodyPr>
          <a:lstStyle/>
          <a:p>
            <a:pPr algn="l">
              <a:lnSpc>
                <a:spcPct val="125000"/>
              </a:lnSpc>
            </a:pPr>
            <a:r>
              <a:rPr sz="1200" b="0" i="0" spc="140">
                <a:solidFill>
                  <a:srgbClr val="FFFFFF"/>
                </a:solidFill>
                <a:latin typeface="Consolas"/>
              </a:rPr>
              <a:t>M1 · 7 VON 7</a:t>
            </a:r>
          </a:p>
        </p:txBody>
      </p:sp>
      <p:sp>
        <p:nvSpPr>
          <p:cNvPr id="5" name="TextBox 4"/>
          <p:cNvSpPr txBox="1"/>
          <p:nvPr/>
        </p:nvSpPr>
        <p:spPr>
          <a:xfrm>
            <a:off x="777240" y="5760720"/>
            <a:ext cx="10637215" cy="914400"/>
          </a:xfrm>
          <a:prstGeom prst="rect">
            <a:avLst/>
          </a:prstGeom>
          <a:noFill/>
        </p:spPr>
        <p:txBody>
          <a:bodyPr wrap="square" anchor="t">
            <a:spAutoFit/>
          </a:bodyPr>
          <a:lstStyle/>
          <a:p>
            <a:pPr algn="l">
              <a:lnSpc>
                <a:spcPct val="125000"/>
              </a:lnSpc>
            </a:pPr>
            <a:r>
              <a:rPr sz="1700" b="0" i="0">
                <a:solidFill>
                  <a:srgbClr val="D8DDE4"/>
                </a:solidFill>
                <a:latin typeface="Calibri"/>
              </a:rPr>
              <a:t>Ein evangelischer Kindergarten. Träger ist die Kirchengemeinde — bezahlt überwiegend aus öffentlichen Mitteln und Elternbeiträgen.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E5EC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1E3A5F"/>
                </a:solidFill>
                <a:latin typeface="Consolas"/>
              </a:rPr>
              <a:t>ARBEITSAUFTRAG 1.1</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Partnerarbeit · 3 min</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Was haben diese sieben Bilder gemeinsam?</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2100" b="0" i="0">
                <a:solidFill>
                  <a:srgbClr val="151A21"/>
                </a:solidFill>
                <a:latin typeface="Calibri"/>
              </a:rPr>
              <a:t>1.  Notiert zu zweit in einem Satz, was die sieben Bilder verbindet.</a:t>
            </a:r>
          </a:p>
          <a:p>
            <a:pPr algn="l">
              <a:lnSpc>
                <a:spcPct val="142000"/>
              </a:lnSpc>
            </a:pPr>
            <a:r>
              <a:rPr sz="2100" b="0" i="0">
                <a:solidFill>
                  <a:srgbClr val="151A21"/>
                </a:solidFill>
                <a:latin typeface="Calibri"/>
              </a:rPr>
              <a:t>2.  Einigt euch auf ein Bild, bei dem ihr euch am wenigsten sicher seid, warum es dabei ist.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M2 · ERSTER SATZ</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3200" b="0" i="0">
                <a:solidFill>
                  <a:srgbClr val="151A21"/>
                </a:solidFill>
                <a:latin typeface="Georgia"/>
              </a:rPr>
              <a:t>„Im Bewußtsein seiner Verantwortung </a:t>
            </a:r>
            <a:r>
              <a:rPr sz="3200" b="1">
                <a:solidFill>
                  <a:srgbClr val="8C2A24"/>
                </a:solidFill>
                <a:latin typeface="Georgia"/>
              </a:rPr>
              <a:t>vor Gott</a:t>
            </a:r>
            <a:r>
              <a:rPr sz="3200">
                <a:solidFill>
                  <a:srgbClr val="151A21"/>
                </a:solidFill>
                <a:latin typeface="Georgia"/>
              </a:rPr>
              <a:t> und den Menschen … hat sich das Deutsche Volk kraft seiner verfassungsgebenden Gewalt dieses Grundgesetz gegeben.“</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Präambel des Grundgesetzes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M2 · ZWEITER SATZ</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4000" b="0" i="0">
                <a:solidFill>
                  <a:srgbClr val="151A21"/>
                </a:solidFill>
                <a:latin typeface="Georgia"/>
              </a:rPr>
              <a:t>„Es besteht keine Staatskirche.“</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Artikel 137 Abs. 1 der Weimarer Reichsverfassung — nach Art. 140 GG Bestandteil des Grundgesetzes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5ECF4"/>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LEITFRAGE DER GANZEN EINHEIT</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3200" b="0" i="0">
                <a:solidFill>
                  <a:srgbClr val="151A21"/>
                </a:solidFill>
                <a:latin typeface="Georgia"/>
              </a:rPr>
              <a:t>Deutschland hat keine Staatskirche — und trotzdem sind Kirche und Staat überall miteinander verflochten.</a:t>
            </a:r>
          </a:p>
          <a:p>
            <a:pPr algn="l">
              <a:lnSpc>
                <a:spcPct val="132000"/>
              </a:lnSpc>
            </a:pPr>
            <a:r>
              <a:rPr sz="3200" b="0" i="0">
                <a:solidFill>
                  <a:srgbClr val="151A21"/>
                </a:solidFill>
                <a:latin typeface="Georgia"/>
              </a:rPr>
              <a:t/>
            </a:r>
          </a:p>
          <a:p>
            <a:pPr algn="l">
              <a:lnSpc>
                <a:spcPct val="132000"/>
              </a:lnSpc>
            </a:pPr>
            <a:r>
              <a:rPr sz="3200" b="0" i="0">
                <a:solidFill>
                  <a:srgbClr val="151A21"/>
                </a:solidFill>
                <a:latin typeface="Georgia"/>
              </a:rPr>
              <a:t>Wie viel Nähe ist gut? Und wann wird sie gefährlich?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E5EC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1E3A5F"/>
                </a:solidFill>
                <a:latin typeface="Consolas"/>
              </a:rPr>
              <a:t>ARBEITSAUFTRAG 1.2</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Gruppenarbeit · 30 min</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Expertengruppen: vier Steckbriefe</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1600" b="0" i="0">
                <a:solidFill>
                  <a:srgbClr val="151A21"/>
                </a:solidFill>
                <a:latin typeface="Calibri"/>
              </a:rPr>
              <a:t>1.  Lest euer Materialblatt und klärt alle Begriffe, die keiner erklären kann — bevor ihr das Handy anfasst.</a:t>
            </a:r>
          </a:p>
          <a:p>
            <a:pPr algn="l">
              <a:lnSpc>
                <a:spcPct val="142000"/>
              </a:lnSpc>
            </a:pPr>
            <a:r>
              <a:rPr sz="1600" b="0" i="0">
                <a:solidFill>
                  <a:srgbClr val="151A21"/>
                </a:solidFill>
                <a:latin typeface="Calibri"/>
              </a:rPr>
              <a:t>2.  Recherchiert die beiden Aufträge. Regel: Was ihr aufschreibt, muss auf einer Seite stehen, die ihr nennen könnt.</a:t>
            </a:r>
          </a:p>
          <a:p>
            <a:pPr algn="l">
              <a:lnSpc>
                <a:spcPct val="142000"/>
              </a:lnSpc>
            </a:pPr>
            <a:r>
              <a:rPr sz="1600" b="0" i="0">
                <a:solidFill>
                  <a:srgbClr val="151A21"/>
                </a:solidFill>
                <a:latin typeface="Calibri"/>
              </a:rPr>
              <a:t>3.  Füllt den A3-Steckbrief aus: WAS · WOHER · WEM NÜTZT ES · STREITPUNKT. Je Feld höchstens drei Sätze.</a:t>
            </a:r>
          </a:p>
          <a:p>
            <a:pPr algn="l">
              <a:lnSpc>
                <a:spcPct val="142000"/>
              </a:lnSpc>
            </a:pPr>
            <a:r>
              <a:rPr sz="1600" b="0" i="0">
                <a:solidFill>
                  <a:srgbClr val="151A21"/>
                </a:solidFill>
                <a:latin typeface="Calibri"/>
              </a:rPr>
              <a:t>4.  Legt fest, wer den Steckbrief später in 90 Sekunden erklärt. Übt es einmal.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M5 · STREITSATZ 1 VON 4</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4000" b="0" i="0">
                <a:solidFill>
                  <a:srgbClr val="151A21"/>
                </a:solidFill>
                <a:latin typeface="Georgia"/>
              </a:rPr>
              <a:t>„Der Staat soll die Kirchensteuer nicht mehr für die Kirchen einziehen.“</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Stellt euch in die Ecke, die zu eurer Meinung passt.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M5 · STREITSATZ 2 VON 4</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4000" b="0" i="0">
                <a:solidFill>
                  <a:srgbClr val="151A21"/>
                </a:solidFill>
                <a:latin typeface="Georgia"/>
              </a:rPr>
              <a:t>„Religionsunterricht gehört nicht an eine staatliche Schule.“</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Stellt euch in die Ecke, die zu eurer Meinung passt.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M5 · STREITSATZ 3 VON 4</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3200" b="0" i="0">
                <a:solidFill>
                  <a:srgbClr val="151A21"/>
                </a:solidFill>
                <a:latin typeface="Georgia"/>
              </a:rPr>
              <a:t>„Eine Kirche, die Krankenhäuser betreibt, soll ihren Angestellten dieselben Streikrechte geben wie jeder andere Arbeitgeber.“</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Stellt euch in die Ecke, die zu eurer Meinung passt.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M5 · STREITSATZ 4 VON 4</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4000" b="0" i="0">
                <a:solidFill>
                  <a:srgbClr val="151A21"/>
                </a:solidFill>
                <a:latin typeface="Georgia"/>
              </a:rPr>
              <a:t>„Solange die Kirche vom Staat Geld bekommt, sollte sie sich mit Kritik am Staat zurückhalten.“</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Stellt euch in die Ecke, die zu eurer Meinung passt.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51A21"/>
        </a:solidFill>
        <a:effectLst/>
      </p:bgPr>
    </p:bg>
    <p:spTree>
      <p:nvGrpSpPr>
        <p:cNvPr id="1" name=""/>
        <p:cNvGrpSpPr/>
        <p:nvPr/>
      </p:nvGrpSpPr>
      <p:grpSpPr/>
      <p:pic>
        <p:nvPicPr>
          <p:cNvPr id="2" name="Picture 1" descr="image.jpg"/>
          <p:cNvPicPr>
            <a:picLocks noChangeAspect="1"/>
          </p:cNvPicPr>
          <p:nvPr/>
        </p:nvPicPr>
        <p:blipFill>
          <a:blip r:embed="rId2"/>
          <a:srcRect t="16719" b="16719"/>
          <a:stretch>
            <a:fillRect/>
          </a:stretch>
        </p:blipFill>
        <p:spPr>
          <a:xfrm>
            <a:off x="0" y="0"/>
            <a:ext cx="12191695" cy="5532120"/>
          </a:xfrm>
          <a:prstGeom prst="rect">
            <a:avLst/>
          </a:prstGeom>
        </p:spPr>
      </p:pic>
      <p:sp>
        <p:nvSpPr>
          <p:cNvPr id="3" name="Rectangle 2"/>
          <p:cNvSpPr/>
          <p:nvPr/>
        </p:nvSpPr>
        <p:spPr>
          <a:xfrm>
            <a:off x="320040" y="274320"/>
            <a:ext cx="1371600" cy="384048"/>
          </a:xfrm>
          <a:prstGeom prst="rect">
            <a:avLst/>
          </a:prstGeom>
          <a:solidFill>
            <a:srgbClr val="151A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11480" y="310896"/>
            <a:ext cx="1280160" cy="320040"/>
          </a:xfrm>
          <a:prstGeom prst="rect">
            <a:avLst/>
          </a:prstGeom>
          <a:noFill/>
        </p:spPr>
        <p:txBody>
          <a:bodyPr wrap="square" anchor="t">
            <a:spAutoFit/>
          </a:bodyPr>
          <a:lstStyle/>
          <a:p>
            <a:pPr algn="l">
              <a:lnSpc>
                <a:spcPct val="125000"/>
              </a:lnSpc>
            </a:pPr>
            <a:r>
              <a:rPr sz="1200" b="0" i="0" spc="140">
                <a:solidFill>
                  <a:srgbClr val="FFFFFF"/>
                </a:solidFill>
                <a:latin typeface="Consolas"/>
              </a:rPr>
              <a:t>STUNDENSCHLUSS</a:t>
            </a:r>
          </a:p>
        </p:txBody>
      </p:sp>
      <p:sp>
        <p:nvSpPr>
          <p:cNvPr id="5" name="TextBox 4"/>
          <p:cNvSpPr txBox="1"/>
          <p:nvPr/>
        </p:nvSpPr>
        <p:spPr>
          <a:xfrm>
            <a:off x="777240" y="5760720"/>
            <a:ext cx="10637215" cy="914400"/>
          </a:xfrm>
          <a:prstGeom prst="rect">
            <a:avLst/>
          </a:prstGeom>
          <a:noFill/>
        </p:spPr>
        <p:txBody>
          <a:bodyPr wrap="square" anchor="t">
            <a:spAutoFit/>
          </a:bodyPr>
          <a:lstStyle/>
          <a:p>
            <a:pPr algn="l">
              <a:lnSpc>
                <a:spcPct val="125000"/>
              </a:lnSpc>
            </a:pPr>
            <a:r>
              <a:rPr sz="1700" b="0" i="0">
                <a:solidFill>
                  <a:srgbClr val="D8DDE4"/>
                </a:solidFill>
                <a:latin typeface="Calibri"/>
              </a:rPr>
              <a:t>Eine evangelische Kirche in Deutschland. Das Bild ist ungefähr neunzig Jahre alt.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777240" y="2103120"/>
            <a:ext cx="10058400" cy="457200"/>
          </a:xfrm>
          <a:prstGeom prst="rect">
            <a:avLst/>
          </a:prstGeom>
          <a:noFill/>
        </p:spPr>
        <p:txBody>
          <a:bodyPr wrap="square" anchor="t">
            <a:spAutoFit/>
          </a:bodyPr>
          <a:lstStyle/>
          <a:p>
            <a:pPr algn="l">
              <a:lnSpc>
                <a:spcPct val="125000"/>
              </a:lnSpc>
            </a:pPr>
            <a:r>
              <a:rPr sz="1500" b="0" i="0" spc="240">
                <a:solidFill>
                  <a:srgbClr val="9FBAD8"/>
                </a:solidFill>
                <a:latin typeface="Consolas"/>
              </a:rPr>
              <a:t>DOPPELSTUNDE 2</a:t>
            </a:r>
          </a:p>
        </p:txBody>
      </p:sp>
      <p:sp>
        <p:nvSpPr>
          <p:cNvPr id="3" name="TextBox 2"/>
          <p:cNvSpPr txBox="1"/>
          <p:nvPr/>
        </p:nvSpPr>
        <p:spPr>
          <a:xfrm>
            <a:off x="777240" y="2651760"/>
            <a:ext cx="10241280" cy="1463040"/>
          </a:xfrm>
          <a:prstGeom prst="rect">
            <a:avLst/>
          </a:prstGeom>
          <a:noFill/>
        </p:spPr>
        <p:txBody>
          <a:bodyPr wrap="square" anchor="t">
            <a:spAutoFit/>
          </a:bodyPr>
          <a:lstStyle/>
          <a:p>
            <a:pPr algn="l">
              <a:lnSpc>
                <a:spcPct val="105000"/>
              </a:lnSpc>
            </a:pPr>
            <a:r>
              <a:rPr sz="5400" b="1" i="0">
                <a:solidFill>
                  <a:srgbClr val="FFFFFF"/>
                </a:solidFill>
                <a:latin typeface="Georgia"/>
              </a:rPr>
              <a:t>1933: Die Kirche jubelt mit</a:t>
            </a:r>
          </a:p>
        </p:txBody>
      </p:sp>
      <p:sp>
        <p:nvSpPr>
          <p:cNvPr id="4" name="TextBox 3"/>
          <p:cNvSpPr txBox="1"/>
          <p:nvPr/>
        </p:nvSpPr>
        <p:spPr>
          <a:xfrm>
            <a:off x="777240" y="4206240"/>
            <a:ext cx="8778240" cy="1097280"/>
          </a:xfrm>
          <a:prstGeom prst="rect">
            <a:avLst/>
          </a:prstGeom>
          <a:noFill/>
        </p:spPr>
        <p:txBody>
          <a:bodyPr wrap="square" anchor="t">
            <a:spAutoFit/>
          </a:bodyPr>
          <a:lstStyle/>
          <a:p>
            <a:pPr algn="l">
              <a:lnSpc>
                <a:spcPct val="125000"/>
              </a:lnSpc>
            </a:pPr>
            <a:r>
              <a:rPr sz="2100" b="0" i="1">
                <a:solidFill>
                  <a:srgbClr val="C8D8EA"/>
                </a:solidFill>
                <a:latin typeface="Georgia"/>
              </a:rPr>
              <a:t>Warum die Frage nicht lautet „Wie konnten die nur?“, sondern „Was war daran so überzeugend?“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51A21"/>
        </a:solidFill>
        <a:effectLst/>
      </p:bgPr>
    </p:bg>
    <p:spTree>
      <p:nvGrpSpPr>
        <p:cNvPr id="1" name=""/>
        <p:cNvGrpSpPr/>
        <p:nvPr/>
      </p:nvGrpSpPr>
      <p:grpSpPr/>
      <p:pic>
        <p:nvPicPr>
          <p:cNvPr id="2" name="Picture 1" descr="image.jpg"/>
          <p:cNvPicPr>
            <a:picLocks noChangeAspect="1"/>
          </p:cNvPicPr>
          <p:nvPr/>
        </p:nvPicPr>
        <p:blipFill>
          <a:blip r:embed="rId2"/>
          <a:srcRect t="16719" b="16719"/>
          <a:stretch>
            <a:fillRect/>
          </a:stretch>
        </p:blipFill>
        <p:spPr>
          <a:xfrm>
            <a:off x="0" y="0"/>
            <a:ext cx="12191695" cy="5532120"/>
          </a:xfrm>
          <a:prstGeom prst="rect">
            <a:avLst/>
          </a:prstGeom>
        </p:spPr>
      </p:pic>
      <p:sp>
        <p:nvSpPr>
          <p:cNvPr id="3" name="Rectangle 2"/>
          <p:cNvSpPr/>
          <p:nvPr/>
        </p:nvSpPr>
        <p:spPr>
          <a:xfrm>
            <a:off x="320040" y="274320"/>
            <a:ext cx="1371600" cy="384048"/>
          </a:xfrm>
          <a:prstGeom prst="rect">
            <a:avLst/>
          </a:prstGeom>
          <a:solidFill>
            <a:srgbClr val="151A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11480" y="310896"/>
            <a:ext cx="1280160" cy="320040"/>
          </a:xfrm>
          <a:prstGeom prst="rect">
            <a:avLst/>
          </a:prstGeom>
          <a:noFill/>
        </p:spPr>
        <p:txBody>
          <a:bodyPr wrap="square" anchor="t">
            <a:spAutoFit/>
          </a:bodyPr>
          <a:lstStyle/>
          <a:p>
            <a:pPr algn="l">
              <a:lnSpc>
                <a:spcPct val="125000"/>
              </a:lnSpc>
            </a:pPr>
            <a:r>
              <a:rPr sz="1200" b="0" i="0" spc="140">
                <a:solidFill>
                  <a:srgbClr val="FFFFFF"/>
                </a:solidFill>
                <a:latin typeface="Consolas"/>
              </a:rPr>
              <a:t>M6A</a:t>
            </a:r>
          </a:p>
        </p:txBody>
      </p:sp>
      <p:sp>
        <p:nvSpPr>
          <p:cNvPr id="5" name="TextBox 4"/>
          <p:cNvSpPr txBox="1"/>
          <p:nvPr/>
        </p:nvSpPr>
        <p:spPr>
          <a:xfrm>
            <a:off x="777240" y="5760720"/>
            <a:ext cx="10637215" cy="914400"/>
          </a:xfrm>
          <a:prstGeom prst="rect">
            <a:avLst/>
          </a:prstGeom>
          <a:noFill/>
        </p:spPr>
        <p:txBody>
          <a:bodyPr wrap="square" anchor="t">
            <a:spAutoFit/>
          </a:bodyPr>
          <a:lstStyle/>
          <a:p>
            <a:pPr algn="l">
              <a:lnSpc>
                <a:spcPct val="125000"/>
              </a:lnSpc>
            </a:pPr>
            <a:r>
              <a:rPr sz="1700" b="0" i="0">
                <a:solidFill>
                  <a:srgbClr val="D8DDE4"/>
                </a:solidFill>
                <a:latin typeface="Calibri"/>
              </a:rPr>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E5EC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1E3A5F"/>
                </a:solidFill>
                <a:latin typeface="Consolas"/>
              </a:rPr>
              <a:t>ARBEITSAUFTRAG 2.1</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Einzelarbeit · 8 min</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Bildlesen in drei Schritten</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1800" b="0" i="0">
                <a:solidFill>
                  <a:srgbClr val="151A21"/>
                </a:solidFill>
                <a:latin typeface="Calibri"/>
              </a:rPr>
              <a:t>1.  SEHEN — Notiere fünf Dinge, die du auf dem Bild tatsächlich siehst. Keine Deutung, nur Gegenstände.</a:t>
            </a:r>
          </a:p>
          <a:p>
            <a:pPr algn="l">
              <a:lnSpc>
                <a:spcPct val="142000"/>
              </a:lnSpc>
            </a:pPr>
            <a:r>
              <a:rPr sz="1800" b="0" i="0">
                <a:solidFill>
                  <a:srgbClr val="151A21"/>
                </a:solidFill>
                <a:latin typeface="Calibri"/>
              </a:rPr>
              <a:t>2.  VERMISSEN — Notiere eine Sache, die du in einer Kirche erwarten würdest und die hier fehlt oder überdeckt ist.</a:t>
            </a:r>
          </a:p>
          <a:p>
            <a:pPr algn="l">
              <a:lnSpc>
                <a:spcPct val="142000"/>
              </a:lnSpc>
            </a:pPr>
            <a:r>
              <a:rPr sz="1800" b="0" i="0">
                <a:solidFill>
                  <a:srgbClr val="151A21"/>
                </a:solidFill>
                <a:latin typeface="Calibri"/>
              </a:rPr>
              <a:t>3.  FRAGEN — Formuliere die eine Frage, die du den Menschen auf diesem Bild stellen würdest.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1148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M7 · ZEITSTRAHL</a:t>
            </a:r>
          </a:p>
        </p:txBody>
      </p:sp>
      <p:sp>
        <p:nvSpPr>
          <p:cNvPr id="3" name="TextBox 2"/>
          <p:cNvSpPr txBox="1"/>
          <p:nvPr/>
        </p:nvSpPr>
        <p:spPr>
          <a:xfrm>
            <a:off x="777240" y="868680"/>
            <a:ext cx="10637215" cy="731520"/>
          </a:xfrm>
          <a:prstGeom prst="rect">
            <a:avLst/>
          </a:prstGeom>
          <a:noFill/>
        </p:spPr>
        <p:txBody>
          <a:bodyPr wrap="square" anchor="t">
            <a:spAutoFit/>
          </a:bodyPr>
          <a:lstStyle/>
          <a:p>
            <a:pPr algn="l">
              <a:lnSpc>
                <a:spcPct val="125000"/>
              </a:lnSpc>
            </a:pPr>
            <a:r>
              <a:rPr sz="3400" b="1" i="0">
                <a:solidFill>
                  <a:srgbClr val="151A21"/>
                </a:solidFill>
                <a:latin typeface="Georgia"/>
              </a:rPr>
              <a:t>Das Jahr, in dem sich die evangelische Kirche entschied</a:t>
            </a:r>
          </a:p>
        </p:txBody>
      </p:sp>
      <p:graphicFrame>
        <p:nvGraphicFramePr>
          <p:cNvPr id="4" name="Table 3"/>
          <p:cNvGraphicFramePr>
            <a:graphicFrameLocks noGrp="1"/>
          </p:cNvGraphicFramePr>
          <p:nvPr/>
        </p:nvGraphicFramePr>
        <p:xfrm>
          <a:off x="777240" y="1783080"/>
          <a:ext cx="10637214" cy="4206240"/>
        </p:xfrm>
        <a:graphic>
          <a:graphicData uri="http://schemas.openxmlformats.org/drawingml/2006/table">
            <a:tbl>
              <a:tblPr firstRow="1" bandRow="1">
                <a:tableStyleId>{5C22544A-7EE6-4342-B048-85BDC9FD1C3A}</a:tableStyleId>
              </a:tblPr>
              <a:tblGrid>
                <a:gridCol w="2659303"/>
                <a:gridCol w="7977911"/>
              </a:tblGrid>
              <a:tr h="600891">
                <a:tc>
                  <a:txBody>
                    <a:bodyPr/>
                    <a:lstStyle/>
                    <a:p>
                      <a:r>
                        <a:rPr sz="1300" b="1">
                          <a:solidFill>
                            <a:srgbClr val="FFFFFF"/>
                          </a:solidFill>
                          <a:latin typeface="Consolas"/>
                        </a:rPr>
                        <a:t>Datum</a:t>
                      </a:r>
                    </a:p>
                  </a:txBody>
                  <a:tcPr>
                    <a:solidFill>
                      <a:srgbClr val="1E3A5F"/>
                    </a:solidFill>
                  </a:tcPr>
                </a:tc>
                <a:tc>
                  <a:txBody>
                    <a:bodyPr/>
                    <a:lstStyle/>
                    <a:p>
                      <a:r>
                        <a:rPr sz="1300" b="1">
                          <a:solidFill>
                            <a:srgbClr val="FFFFFF"/>
                          </a:solidFill>
                          <a:latin typeface="Consolas"/>
                        </a:rPr>
                        <a:t>Ereignis</a:t>
                      </a:r>
                    </a:p>
                  </a:txBody>
                  <a:tcPr>
                    <a:solidFill>
                      <a:srgbClr val="1E3A5F"/>
                    </a:solidFill>
                  </a:tcPr>
                </a:tc>
              </a:tr>
              <a:tr h="600891">
                <a:tc>
                  <a:txBody>
                    <a:bodyPr/>
                    <a:lstStyle/>
                    <a:p>
                      <a:r>
                        <a:rPr sz="1500" b="1">
                          <a:solidFill>
                            <a:srgbClr val="151A21"/>
                          </a:solidFill>
                          <a:latin typeface="Consolas"/>
                        </a:rPr>
                        <a:t>30. Jan. 1933</a:t>
                      </a:r>
                    </a:p>
                  </a:txBody>
                  <a:tcPr>
                    <a:solidFill>
                      <a:srgbClr val="FFFFFF"/>
                    </a:solidFill>
                  </a:tcPr>
                </a:tc>
                <a:tc>
                  <a:txBody>
                    <a:bodyPr/>
                    <a:lstStyle/>
                    <a:p>
                      <a:r>
                        <a:rPr sz="1500" b="0">
                          <a:solidFill>
                            <a:srgbClr val="151A21"/>
                          </a:solidFill>
                          <a:latin typeface="Calibri"/>
                        </a:rPr>
                        <a:t>Hitler wird Reichskanzler — in vielen Gemeinden Dankgottesdienste</a:t>
                      </a:r>
                    </a:p>
                  </a:txBody>
                  <a:tcPr>
                    <a:solidFill>
                      <a:srgbClr val="FFFFFF"/>
                    </a:solidFill>
                  </a:tcPr>
                </a:tc>
              </a:tr>
              <a:tr h="600891">
                <a:tc>
                  <a:txBody>
                    <a:bodyPr/>
                    <a:lstStyle/>
                    <a:p>
                      <a:r>
                        <a:rPr sz="1500" b="1">
                          <a:solidFill>
                            <a:srgbClr val="151A21"/>
                          </a:solidFill>
                          <a:latin typeface="Consolas"/>
                        </a:rPr>
                        <a:t>März 1933</a:t>
                      </a:r>
                    </a:p>
                  </a:txBody>
                  <a:tcPr>
                    <a:solidFill>
                      <a:srgbClr val="F3F5F7"/>
                    </a:solidFill>
                  </a:tcPr>
                </a:tc>
                <a:tc>
                  <a:txBody>
                    <a:bodyPr/>
                    <a:lstStyle/>
                    <a:p>
                      <a:r>
                        <a:rPr sz="1500" b="0">
                          <a:solidFill>
                            <a:srgbClr val="151A21"/>
                          </a:solidFill>
                          <a:latin typeface="Calibri"/>
                        </a:rPr>
                        <a:t>Ermächtigungsgesetz — Widerspruch wird gefährlich</a:t>
                      </a:r>
                    </a:p>
                  </a:txBody>
                  <a:tcPr>
                    <a:solidFill>
                      <a:srgbClr val="F3F5F7"/>
                    </a:solidFill>
                  </a:tcPr>
                </a:tc>
              </a:tr>
              <a:tr h="600891">
                <a:tc>
                  <a:txBody>
                    <a:bodyPr/>
                    <a:lstStyle/>
                    <a:p>
                      <a:r>
                        <a:rPr sz="1500" b="1">
                          <a:solidFill>
                            <a:srgbClr val="151A21"/>
                          </a:solidFill>
                          <a:latin typeface="Consolas"/>
                        </a:rPr>
                        <a:t>Frühjahr 1933</a:t>
                      </a:r>
                    </a:p>
                  </a:txBody>
                  <a:tcPr>
                    <a:solidFill>
                      <a:srgbClr val="FFFFFF"/>
                    </a:solidFill>
                  </a:tcPr>
                </a:tc>
                <a:tc>
                  <a:txBody>
                    <a:bodyPr/>
                    <a:lstStyle/>
                    <a:p>
                      <a:r>
                        <a:rPr sz="1500" b="0">
                          <a:solidFill>
                            <a:srgbClr val="151A21"/>
                          </a:solidFill>
                          <a:latin typeface="Calibri"/>
                        </a:rPr>
                        <a:t>Die „Deutschen Christen“ werden Massenbewegung</a:t>
                      </a:r>
                    </a:p>
                  </a:txBody>
                  <a:tcPr>
                    <a:solidFill>
                      <a:srgbClr val="FFFFFF"/>
                    </a:solidFill>
                  </a:tcPr>
                </a:tc>
              </a:tr>
              <a:tr h="600891">
                <a:tc>
                  <a:txBody>
                    <a:bodyPr/>
                    <a:lstStyle/>
                    <a:p>
                      <a:r>
                        <a:rPr sz="1500" b="1">
                          <a:solidFill>
                            <a:srgbClr val="151A21"/>
                          </a:solidFill>
                          <a:latin typeface="Consolas"/>
                        </a:rPr>
                        <a:t>23. Juli 1933</a:t>
                      </a:r>
                    </a:p>
                  </a:txBody>
                  <a:tcPr>
                    <a:solidFill>
                      <a:srgbClr val="F3F5F7"/>
                    </a:solidFill>
                  </a:tcPr>
                </a:tc>
                <a:tc>
                  <a:txBody>
                    <a:bodyPr/>
                    <a:lstStyle/>
                    <a:p>
                      <a:r>
                        <a:rPr sz="1500" b="0">
                          <a:solidFill>
                            <a:srgbClr val="151A21"/>
                          </a:solidFill>
                          <a:latin typeface="Calibri"/>
                        </a:rPr>
                        <a:t>KIRCHENWAHL — deutliche Mehrheit für die Deutschen Christen</a:t>
                      </a:r>
                    </a:p>
                  </a:txBody>
                  <a:tcPr>
                    <a:solidFill>
                      <a:srgbClr val="F3F5F7"/>
                    </a:solidFill>
                  </a:tcPr>
                </a:tc>
              </a:tr>
              <a:tr h="600891">
                <a:tc>
                  <a:txBody>
                    <a:bodyPr/>
                    <a:lstStyle/>
                    <a:p>
                      <a:r>
                        <a:rPr sz="1500" b="1">
                          <a:solidFill>
                            <a:srgbClr val="151A21"/>
                          </a:solidFill>
                          <a:latin typeface="Consolas"/>
                        </a:rPr>
                        <a:t>Sept. 1933</a:t>
                      </a:r>
                    </a:p>
                  </a:txBody>
                  <a:tcPr>
                    <a:solidFill>
                      <a:srgbClr val="FFFFFF"/>
                    </a:solidFill>
                  </a:tcPr>
                </a:tc>
                <a:tc>
                  <a:txBody>
                    <a:bodyPr/>
                    <a:lstStyle/>
                    <a:p>
                      <a:r>
                        <a:rPr sz="1500" b="0">
                          <a:solidFill>
                            <a:srgbClr val="151A21"/>
                          </a:solidFill>
                          <a:latin typeface="Calibri"/>
                        </a:rPr>
                        <a:t>Ludwig Müller wird Reichsbischof · Arierparagraph erreicht die Kirche</a:t>
                      </a:r>
                    </a:p>
                  </a:txBody>
                  <a:tcPr>
                    <a:solidFill>
                      <a:srgbClr val="FFFFFF"/>
                    </a:solidFill>
                  </a:tcPr>
                </a:tc>
              </a:tr>
              <a:tr h="600894">
                <a:tc>
                  <a:txBody>
                    <a:bodyPr/>
                    <a:lstStyle/>
                    <a:p>
                      <a:r>
                        <a:rPr sz="1500" b="1">
                          <a:solidFill>
                            <a:srgbClr val="151A21"/>
                          </a:solidFill>
                          <a:latin typeface="Consolas"/>
                        </a:rPr>
                        <a:t>13. Nov. 1933</a:t>
                      </a:r>
                    </a:p>
                  </a:txBody>
                  <a:tcPr>
                    <a:solidFill>
                      <a:srgbClr val="F3F5F7"/>
                    </a:solidFill>
                  </a:tcPr>
                </a:tc>
                <a:tc>
                  <a:txBody>
                    <a:bodyPr/>
                    <a:lstStyle/>
                    <a:p>
                      <a:r>
                        <a:rPr sz="1500" b="0">
                          <a:solidFill>
                            <a:srgbClr val="151A21"/>
                          </a:solidFill>
                          <a:latin typeface="Calibri"/>
                        </a:rPr>
                        <a:t>Sportpalast: Forderung, das Alte Testament abzuschaffen</a:t>
                      </a:r>
                    </a:p>
                  </a:txBody>
                  <a:tcPr>
                    <a:solidFill>
                      <a:srgbClr val="F3F5F7"/>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51A21"/>
        </a:solidFill>
        <a:effectLst/>
      </p:bgPr>
    </p:bg>
    <p:spTree>
      <p:nvGrpSpPr>
        <p:cNvPr id="1" name=""/>
        <p:cNvGrpSpPr/>
        <p:nvPr/>
      </p:nvGrpSpPr>
      <p:grpSpPr/>
      <p:pic>
        <p:nvPicPr>
          <p:cNvPr id="2" name="Picture 1" descr="image.jpg"/>
          <p:cNvPicPr>
            <a:picLocks noChangeAspect="1"/>
          </p:cNvPicPr>
          <p:nvPr/>
        </p:nvPicPr>
        <p:blipFill>
          <a:blip r:embed="rId2"/>
          <a:srcRect t="17448" b="17448"/>
          <a:stretch>
            <a:fillRect/>
          </a:stretch>
        </p:blipFill>
        <p:spPr>
          <a:xfrm>
            <a:off x="0" y="0"/>
            <a:ext cx="12191695" cy="5532120"/>
          </a:xfrm>
          <a:prstGeom prst="rect">
            <a:avLst/>
          </a:prstGeom>
        </p:spPr>
      </p:pic>
      <p:sp>
        <p:nvSpPr>
          <p:cNvPr id="3" name="Rectangle 2"/>
          <p:cNvSpPr/>
          <p:nvPr/>
        </p:nvSpPr>
        <p:spPr>
          <a:xfrm>
            <a:off x="320040" y="274320"/>
            <a:ext cx="1371600" cy="384048"/>
          </a:xfrm>
          <a:prstGeom prst="rect">
            <a:avLst/>
          </a:prstGeom>
          <a:solidFill>
            <a:srgbClr val="151A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11480" y="310896"/>
            <a:ext cx="1280160" cy="320040"/>
          </a:xfrm>
          <a:prstGeom prst="rect">
            <a:avLst/>
          </a:prstGeom>
          <a:noFill/>
        </p:spPr>
        <p:txBody>
          <a:bodyPr wrap="square" anchor="t">
            <a:spAutoFit/>
          </a:bodyPr>
          <a:lstStyle/>
          <a:p>
            <a:pPr algn="l">
              <a:lnSpc>
                <a:spcPct val="125000"/>
              </a:lnSpc>
            </a:pPr>
            <a:r>
              <a:rPr sz="1200" b="0" i="0" spc="140">
                <a:solidFill>
                  <a:srgbClr val="FFFFFF"/>
                </a:solidFill>
                <a:latin typeface="Consolas"/>
              </a:rPr>
              <a:t>M6B</a:t>
            </a:r>
          </a:p>
        </p:txBody>
      </p:sp>
      <p:sp>
        <p:nvSpPr>
          <p:cNvPr id="5" name="TextBox 4"/>
          <p:cNvSpPr txBox="1"/>
          <p:nvPr/>
        </p:nvSpPr>
        <p:spPr>
          <a:xfrm>
            <a:off x="777240" y="5760720"/>
            <a:ext cx="10637215" cy="914400"/>
          </a:xfrm>
          <a:prstGeom prst="rect">
            <a:avLst/>
          </a:prstGeom>
          <a:noFill/>
        </p:spPr>
        <p:txBody>
          <a:bodyPr wrap="square" anchor="t">
            <a:spAutoFit/>
          </a:bodyPr>
          <a:lstStyle/>
          <a:p>
            <a:pPr algn="l">
              <a:lnSpc>
                <a:spcPct val="125000"/>
              </a:lnSpc>
            </a:pPr>
            <a:r>
              <a:rPr sz="1700" b="0" i="0">
                <a:solidFill>
                  <a:srgbClr val="D8DDE4"/>
                </a:solidFill>
                <a:latin typeface="Calibri"/>
              </a:rPr>
              <a:t>Berliner Dom, September 1933: die Einführung des Reichsbischofs Ludwig Müller. Talare und Uniformen auf denselben Stufen.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E5EC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1E3A5F"/>
                </a:solidFill>
                <a:latin typeface="Consolas"/>
              </a:rPr>
              <a:t>ARBEITSAUFTRAG 2.2</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Gruppenarbeit · 25 min</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Quellen-Autopsie</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1600" b="0" i="0">
                <a:solidFill>
                  <a:srgbClr val="151A21"/>
                </a:solidFill>
                <a:latin typeface="Calibri"/>
              </a:rPr>
              <a:t>1.  Wer spricht hier, wann, zu wem? Ein Satz.</a:t>
            </a:r>
          </a:p>
          <a:p>
            <a:pPr algn="l">
              <a:lnSpc>
                <a:spcPct val="142000"/>
              </a:lnSpc>
            </a:pPr>
            <a:r>
              <a:rPr sz="1600" b="0" i="0">
                <a:solidFill>
                  <a:srgbClr val="151A21"/>
                </a:solidFill>
                <a:latin typeface="Calibri"/>
              </a:rPr>
              <a:t>2.  Was wird gefordert? Unterstreicht im Text die stärkste Forderung.</a:t>
            </a:r>
          </a:p>
          <a:p>
            <a:pPr algn="l">
              <a:lnSpc>
                <a:spcPct val="142000"/>
              </a:lnSpc>
            </a:pPr>
            <a:r>
              <a:rPr sz="1600" b="0" i="0">
                <a:solidFill>
                  <a:srgbClr val="151A21"/>
                </a:solidFill>
                <a:latin typeface="Calibri"/>
              </a:rPr>
              <a:t>3.  Womit wird es begründet? Achtet darauf, wo religiöse Sprache Politisches fordert.</a:t>
            </a:r>
          </a:p>
          <a:p>
            <a:pPr algn="l">
              <a:lnSpc>
                <a:spcPct val="142000"/>
              </a:lnSpc>
            </a:pPr>
            <a:r>
              <a:rPr sz="1600" b="0" i="0">
                <a:solidFill>
                  <a:srgbClr val="151A21"/>
                </a:solidFill>
                <a:latin typeface="Calibri"/>
              </a:rPr>
              <a:t>4.  Was wäre die Folge? Beschreibt eine konkrete Person, für die dieser Text gefährlich wird.</a:t>
            </a:r>
          </a:p>
          <a:p>
            <a:pPr algn="l">
              <a:lnSpc>
                <a:spcPct val="142000"/>
              </a:lnSpc>
            </a:pPr>
            <a:r>
              <a:rPr sz="1600" b="0" i="0">
                <a:solidFill>
                  <a:srgbClr val="151A21"/>
                </a:solidFill>
                <a:latin typeface="Calibri"/>
              </a:rPr>
              <a:t>5.  Ein Satz in heutiger Alltagssprache auf den Papierstreifen — für die Wäscheleine.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M9 · VERS 1 VON 2</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4000" b="0" i="0">
                <a:solidFill>
                  <a:srgbClr val="151A21"/>
                </a:solidFill>
                <a:latin typeface="Georgia"/>
              </a:rPr>
              <a:t>„Jedermann sei untertan der Obrigkeit, die Gewalt über ihn hat. Denn es ist keine Obrigkeit außer von Gott.“</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Römer 13,1 · Lutherbibel 2017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M9 · VERS 2 VON 2</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4000" b="0" i="0">
                <a:solidFill>
                  <a:srgbClr val="151A21"/>
                </a:solidFill>
                <a:latin typeface="Georgia"/>
              </a:rPr>
              <a:t>„Man muss Gott mehr gehorchen als den Menschen.“</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Apostelgeschichte 5,29 · Lutherbibel 2017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5ECF4"/>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MERKSATZ — TRÄGT BIS DOPPELSTUNDE 6</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4000" b="0" i="0">
                <a:solidFill>
                  <a:srgbClr val="151A21"/>
                </a:solidFill>
                <a:latin typeface="Georgia"/>
              </a:rPr>
              <a:t>Der ganze Kirchenkampf ist ein Streit darüber, wo die Grenze zwischen diesen beiden Versen verläuft.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CLIFFHANGER</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4000" b="0" i="0">
                <a:solidFill>
                  <a:srgbClr val="151A21"/>
                </a:solidFill>
                <a:latin typeface="Georgia"/>
              </a:rPr>
              <a:t>„Jesus Christus … ist </a:t>
            </a:r>
            <a:r>
              <a:rPr sz="4000" b="1">
                <a:solidFill>
                  <a:srgbClr val="8C2A24"/>
                </a:solidFill>
                <a:latin typeface="Georgia"/>
              </a:rPr>
              <a:t>das eine Wort Gottes</a:t>
            </a:r>
            <a:r>
              <a:rPr sz="4000">
                <a:solidFill>
                  <a:srgbClr val="151A21"/>
                </a:solidFill>
                <a:latin typeface="Georgia"/>
              </a:rPr>
              <a:t>, das wir zu hören … haben.“</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Mai 1934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777240" y="2103120"/>
            <a:ext cx="10058400" cy="457200"/>
          </a:xfrm>
          <a:prstGeom prst="rect">
            <a:avLst/>
          </a:prstGeom>
          <a:noFill/>
        </p:spPr>
        <p:txBody>
          <a:bodyPr wrap="square" anchor="t">
            <a:spAutoFit/>
          </a:bodyPr>
          <a:lstStyle/>
          <a:p>
            <a:pPr algn="l">
              <a:lnSpc>
                <a:spcPct val="125000"/>
              </a:lnSpc>
            </a:pPr>
            <a:r>
              <a:rPr sz="1500" b="0" i="0" spc="240">
                <a:solidFill>
                  <a:srgbClr val="9FBAD8"/>
                </a:solidFill>
                <a:latin typeface="Consolas"/>
              </a:rPr>
              <a:t>DOPPELSTUNDE 3</a:t>
            </a:r>
          </a:p>
        </p:txBody>
      </p:sp>
      <p:sp>
        <p:nvSpPr>
          <p:cNvPr id="3" name="TextBox 2"/>
          <p:cNvSpPr txBox="1"/>
          <p:nvPr/>
        </p:nvSpPr>
        <p:spPr>
          <a:xfrm>
            <a:off x="777240" y="2651760"/>
            <a:ext cx="10241280" cy="1463040"/>
          </a:xfrm>
          <a:prstGeom prst="rect">
            <a:avLst/>
          </a:prstGeom>
          <a:noFill/>
        </p:spPr>
        <p:txBody>
          <a:bodyPr wrap="square" anchor="t">
            <a:spAutoFit/>
          </a:bodyPr>
          <a:lstStyle/>
          <a:p>
            <a:pPr algn="l">
              <a:lnSpc>
                <a:spcPct val="105000"/>
              </a:lnSpc>
            </a:pPr>
            <a:r>
              <a:rPr sz="5400" b="1" i="0">
                <a:solidFill>
                  <a:srgbClr val="FFFFFF"/>
                </a:solidFill>
                <a:latin typeface="Georgia"/>
              </a:rPr>
              <a:t>Barmen gegen Ansbach</a:t>
            </a:r>
          </a:p>
        </p:txBody>
      </p:sp>
      <p:sp>
        <p:nvSpPr>
          <p:cNvPr id="4" name="TextBox 3"/>
          <p:cNvSpPr txBox="1"/>
          <p:nvPr/>
        </p:nvSpPr>
        <p:spPr>
          <a:xfrm>
            <a:off x="777240" y="4206240"/>
            <a:ext cx="8778240" cy="1097280"/>
          </a:xfrm>
          <a:prstGeom prst="rect">
            <a:avLst/>
          </a:prstGeom>
          <a:noFill/>
        </p:spPr>
        <p:txBody>
          <a:bodyPr wrap="square" anchor="t">
            <a:spAutoFit/>
          </a:bodyPr>
          <a:lstStyle/>
          <a:p>
            <a:pPr algn="l">
              <a:lnSpc>
                <a:spcPct val="125000"/>
              </a:lnSpc>
            </a:pPr>
            <a:r>
              <a:rPr sz="2100" b="0" i="1">
                <a:solidFill>
                  <a:srgbClr val="C8D8EA"/>
                </a:solidFill>
                <a:latin typeface="Georgia"/>
              </a:rPr>
              <a:t>Zwei Texte, dreizehn Tage Abstand, dieselbe Kirche — und ein bayerischer Landesbischof mittendrin.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M10 · TEXT A</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3200" b="0" i="0">
                <a:solidFill>
                  <a:srgbClr val="151A21"/>
                </a:solidFill>
                <a:latin typeface="Georgia"/>
              </a:rPr>
              <a:t>„Jesus Christus, wie er uns in der Heiligen Schrift bezeugt wird, ist das eine Wort Gottes, das wir zu hören, dem wir im Leben und im Sterben zu vertrauen und zu gehorchen haben.“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M10 · TEXT B</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3200" b="0" i="0">
                <a:solidFill>
                  <a:srgbClr val="151A21"/>
                </a:solidFill>
                <a:latin typeface="Georgia"/>
              </a:rPr>
              <a:t>Gott begegne uns auch in den natürlichen Ordnungen des Lebens — in </a:t>
            </a:r>
            <a:r>
              <a:rPr sz="3200" b="1">
                <a:solidFill>
                  <a:srgbClr val="8C2A24"/>
                </a:solidFill>
                <a:latin typeface="Georgia"/>
              </a:rPr>
              <a:t>Familie, Volk und Rasse</a:t>
            </a:r>
            <a:r>
              <a:rPr sz="3200">
                <a:solidFill>
                  <a:srgbClr val="151A21"/>
                </a:solidFill>
                <a:latin typeface="Georgia"/>
              </a:rPr>
              <a:t>. Der Christ sei zum Gehorsam gegenüber diesen Ordnungen und gegenüber der von Gott gegebenen Obrigkeit verpflichtet.</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sinngemäße Zusammenfassung, kein Zitat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1148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M12 · ABLAUF DER TALKRUNDE</a:t>
            </a:r>
          </a:p>
        </p:txBody>
      </p:sp>
      <p:sp>
        <p:nvSpPr>
          <p:cNvPr id="3" name="TextBox 2"/>
          <p:cNvSpPr txBox="1"/>
          <p:nvPr/>
        </p:nvSpPr>
        <p:spPr>
          <a:xfrm>
            <a:off x="777240" y="868680"/>
            <a:ext cx="10637215" cy="731520"/>
          </a:xfrm>
          <a:prstGeom prst="rect">
            <a:avLst/>
          </a:prstGeom>
          <a:noFill/>
        </p:spPr>
        <p:txBody>
          <a:bodyPr wrap="square" anchor="t">
            <a:spAutoFit/>
          </a:bodyPr>
          <a:lstStyle/>
          <a:p>
            <a:pPr algn="l">
              <a:lnSpc>
                <a:spcPct val="125000"/>
              </a:lnSpc>
            </a:pPr>
            <a:r>
              <a:rPr sz="3400" b="1" i="0">
                <a:solidFill>
                  <a:srgbClr val="151A21"/>
                </a:solidFill>
                <a:latin typeface="Georgia"/>
              </a:rPr>
              <a:t>„Streit am Sonntagabend“ · Ansbach, Juni 1934</a:t>
            </a:r>
          </a:p>
        </p:txBody>
      </p:sp>
      <p:graphicFrame>
        <p:nvGraphicFramePr>
          <p:cNvPr id="4" name="Table 3"/>
          <p:cNvGraphicFramePr>
            <a:graphicFrameLocks noGrp="1"/>
          </p:cNvGraphicFramePr>
          <p:nvPr/>
        </p:nvGraphicFramePr>
        <p:xfrm>
          <a:off x="777240" y="1783080"/>
          <a:ext cx="10637213" cy="4206240"/>
        </p:xfrm>
        <a:graphic>
          <a:graphicData uri="http://schemas.openxmlformats.org/drawingml/2006/table">
            <a:tbl>
              <a:tblPr firstRow="1" bandRow="1">
                <a:tableStyleId>{5C22544A-7EE6-4342-B048-85BDC9FD1C3A}</a:tableStyleId>
              </a:tblPr>
              <a:tblGrid>
                <a:gridCol w="1329651"/>
                <a:gridCol w="2659303"/>
                <a:gridCol w="6648259"/>
              </a:tblGrid>
              <a:tr h="841248">
                <a:tc>
                  <a:txBody>
                    <a:bodyPr/>
                    <a:lstStyle/>
                    <a:p>
                      <a:r>
                        <a:rPr sz="1300" b="1">
                          <a:solidFill>
                            <a:srgbClr val="FFFFFF"/>
                          </a:solidFill>
                          <a:latin typeface="Consolas"/>
                        </a:rPr>
                        <a:t>Dauer</a:t>
                      </a:r>
                    </a:p>
                  </a:txBody>
                  <a:tcPr>
                    <a:solidFill>
                      <a:srgbClr val="1E3A5F"/>
                    </a:solidFill>
                  </a:tcPr>
                </a:tc>
                <a:tc>
                  <a:txBody>
                    <a:bodyPr/>
                    <a:lstStyle/>
                    <a:p>
                      <a:r>
                        <a:rPr sz="1300" b="1">
                          <a:solidFill>
                            <a:srgbClr val="FFFFFF"/>
                          </a:solidFill>
                          <a:latin typeface="Consolas"/>
                        </a:rPr>
                        <a:t>Teil</a:t>
                      </a:r>
                    </a:p>
                  </a:txBody>
                  <a:tcPr>
                    <a:solidFill>
                      <a:srgbClr val="1E3A5F"/>
                    </a:solidFill>
                  </a:tcPr>
                </a:tc>
                <a:tc>
                  <a:txBody>
                    <a:bodyPr/>
                    <a:lstStyle/>
                    <a:p>
                      <a:r>
                        <a:rPr sz="1300" b="1">
                          <a:solidFill>
                            <a:srgbClr val="FFFFFF"/>
                          </a:solidFill>
                          <a:latin typeface="Consolas"/>
                        </a:rPr>
                        <a:t>Regie</a:t>
                      </a:r>
                    </a:p>
                  </a:txBody>
                  <a:tcPr>
                    <a:solidFill>
                      <a:srgbClr val="1E3A5F"/>
                    </a:solidFill>
                  </a:tcPr>
                </a:tc>
              </a:tr>
              <a:tr h="841248">
                <a:tc>
                  <a:txBody>
                    <a:bodyPr/>
                    <a:lstStyle/>
                    <a:p>
                      <a:r>
                        <a:rPr sz="1500" b="1">
                          <a:solidFill>
                            <a:srgbClr val="151A21"/>
                          </a:solidFill>
                          <a:latin typeface="Consolas"/>
                        </a:rPr>
                        <a:t>5 min</a:t>
                      </a:r>
                    </a:p>
                  </a:txBody>
                  <a:tcPr>
                    <a:solidFill>
                      <a:srgbClr val="FFFFFF"/>
                    </a:solidFill>
                  </a:tcPr>
                </a:tc>
                <a:tc>
                  <a:txBody>
                    <a:bodyPr/>
                    <a:lstStyle/>
                    <a:p>
                      <a:r>
                        <a:rPr sz="1500" b="0">
                          <a:solidFill>
                            <a:srgbClr val="151A21"/>
                          </a:solidFill>
                          <a:latin typeface="Calibri"/>
                        </a:rPr>
                        <a:t>Eröffnung</a:t>
                      </a:r>
                    </a:p>
                  </a:txBody>
                  <a:tcPr>
                    <a:solidFill>
                      <a:srgbClr val="FFFFFF"/>
                    </a:solidFill>
                  </a:tcPr>
                </a:tc>
                <a:tc>
                  <a:txBody>
                    <a:bodyPr/>
                    <a:lstStyle/>
                    <a:p>
                      <a:r>
                        <a:rPr sz="1500" b="0">
                          <a:solidFill>
                            <a:srgbClr val="151A21"/>
                          </a:solidFill>
                          <a:latin typeface="Calibri"/>
                        </a:rPr>
                        <a:t>Je 60 Sekunden Statement: Wagner, Althaus, Barth, Meiser, Charlotte S.</a:t>
                      </a:r>
                    </a:p>
                  </a:txBody>
                  <a:tcPr>
                    <a:solidFill>
                      <a:srgbClr val="FFFFFF"/>
                    </a:solidFill>
                  </a:tcPr>
                </a:tc>
              </a:tr>
              <a:tr h="841248">
                <a:tc>
                  <a:txBody>
                    <a:bodyPr/>
                    <a:lstStyle/>
                    <a:p>
                      <a:r>
                        <a:rPr sz="1500" b="1">
                          <a:solidFill>
                            <a:srgbClr val="151A21"/>
                          </a:solidFill>
                          <a:latin typeface="Consolas"/>
                        </a:rPr>
                        <a:t>10 min</a:t>
                      </a:r>
                    </a:p>
                  </a:txBody>
                  <a:tcPr>
                    <a:solidFill>
                      <a:srgbClr val="F3F5F7"/>
                    </a:solidFill>
                  </a:tcPr>
                </a:tc>
                <a:tc>
                  <a:txBody>
                    <a:bodyPr/>
                    <a:lstStyle/>
                    <a:p>
                      <a:r>
                        <a:rPr sz="1500" b="0">
                          <a:solidFill>
                            <a:srgbClr val="151A21"/>
                          </a:solidFill>
                          <a:latin typeface="Calibri"/>
                        </a:rPr>
                        <a:t>Freie Runde</a:t>
                      </a:r>
                    </a:p>
                  </a:txBody>
                  <a:tcPr>
                    <a:solidFill>
                      <a:srgbClr val="F3F5F7"/>
                    </a:solidFill>
                  </a:tcPr>
                </a:tc>
                <a:tc>
                  <a:txBody>
                    <a:bodyPr/>
                    <a:lstStyle/>
                    <a:p>
                      <a:r>
                        <a:rPr sz="1500" b="0">
                          <a:solidFill>
                            <a:srgbClr val="151A21"/>
                          </a:solidFill>
                          <a:latin typeface="Calibri"/>
                        </a:rPr>
                        <a:t>Moderation greift nur ein, wenn jemand nicht zu Wort kommt</a:t>
                      </a:r>
                    </a:p>
                  </a:txBody>
                  <a:tcPr>
                    <a:solidFill>
                      <a:srgbClr val="F3F5F7"/>
                    </a:solidFill>
                  </a:tcPr>
                </a:tc>
              </a:tr>
              <a:tr h="841248">
                <a:tc>
                  <a:txBody>
                    <a:bodyPr/>
                    <a:lstStyle/>
                    <a:p>
                      <a:r>
                        <a:rPr sz="1500" b="1">
                          <a:solidFill>
                            <a:srgbClr val="151A21"/>
                          </a:solidFill>
                          <a:latin typeface="Consolas"/>
                        </a:rPr>
                        <a:t>4 min</a:t>
                      </a:r>
                    </a:p>
                  </a:txBody>
                  <a:tcPr>
                    <a:solidFill>
                      <a:srgbClr val="FFFFFF"/>
                    </a:solidFill>
                  </a:tcPr>
                </a:tc>
                <a:tc>
                  <a:txBody>
                    <a:bodyPr/>
                    <a:lstStyle/>
                    <a:p>
                      <a:r>
                        <a:rPr sz="1500" b="0">
                          <a:solidFill>
                            <a:srgbClr val="151A21"/>
                          </a:solidFill>
                          <a:latin typeface="Calibri"/>
                        </a:rPr>
                        <a:t>Publikumsfrage</a:t>
                      </a:r>
                    </a:p>
                  </a:txBody>
                  <a:tcPr>
                    <a:solidFill>
                      <a:srgbClr val="FFFFFF"/>
                    </a:solidFill>
                  </a:tcPr>
                </a:tc>
                <a:tc>
                  <a:txBody>
                    <a:bodyPr/>
                    <a:lstStyle/>
                    <a:p>
                      <a:r>
                        <a:rPr sz="1500" b="0">
                          <a:solidFill>
                            <a:srgbClr val="151A21"/>
                          </a:solidFill>
                          <a:latin typeface="Calibri"/>
                        </a:rPr>
                        <a:t>Eine Frage aus dem Halbkreis</a:t>
                      </a:r>
                    </a:p>
                  </a:txBody>
                  <a:tcPr>
                    <a:solidFill>
                      <a:srgbClr val="FFFFFF"/>
                    </a:solidFill>
                  </a:tcPr>
                </a:tc>
              </a:tr>
              <a:tr h="841248">
                <a:tc>
                  <a:txBody>
                    <a:bodyPr/>
                    <a:lstStyle/>
                    <a:p>
                      <a:r>
                        <a:rPr sz="1500" b="1">
                          <a:solidFill>
                            <a:srgbClr val="151A21"/>
                          </a:solidFill>
                          <a:latin typeface="Consolas"/>
                        </a:rPr>
                        <a:t>3 min</a:t>
                      </a:r>
                    </a:p>
                  </a:txBody>
                  <a:tcPr>
                    <a:solidFill>
                      <a:srgbClr val="F3F5F7"/>
                    </a:solidFill>
                  </a:tcPr>
                </a:tc>
                <a:tc>
                  <a:txBody>
                    <a:bodyPr/>
                    <a:lstStyle/>
                    <a:p>
                      <a:r>
                        <a:rPr sz="1500" b="0">
                          <a:solidFill>
                            <a:srgbClr val="151A21"/>
                          </a:solidFill>
                          <a:latin typeface="Calibri"/>
                        </a:rPr>
                        <a:t>Schlusswort</a:t>
                      </a:r>
                    </a:p>
                  </a:txBody>
                  <a:tcPr>
                    <a:solidFill>
                      <a:srgbClr val="F3F5F7"/>
                    </a:solidFill>
                  </a:tcPr>
                </a:tc>
                <a:tc>
                  <a:txBody>
                    <a:bodyPr/>
                    <a:lstStyle/>
                    <a:p>
                      <a:r>
                        <a:rPr sz="1500" b="0">
                          <a:solidFill>
                            <a:srgbClr val="151A21"/>
                          </a:solidFill>
                          <a:latin typeface="Calibri"/>
                        </a:rPr>
                        <a:t>Je 30 Sekunden. Charlotte S. spricht zuletzt</a:t>
                      </a:r>
                    </a:p>
                  </a:txBody>
                  <a:tcPr>
                    <a:solidFill>
                      <a:srgbClr val="F3F5F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M13</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3200" b="0" i="0">
                <a:solidFill>
                  <a:srgbClr val="151A21"/>
                </a:solidFill>
                <a:latin typeface="Georgia"/>
              </a:rPr>
              <a:t>„Wir verwerfen die falsche Lehre, als könne und müsse die Kirche als Quelle ihrer Verkündigung außer und neben diesem einen Worte Gottes auch noch andere Ereignisse und Mächte, Gestalten und Wahrheiten als Gottes Offenbarung anerkennen.“</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Barmer Theologische Erklärung, These 1, 31. Mai 1934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E5EC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1E3A5F"/>
                </a:solidFill>
                <a:latin typeface="Consolas"/>
              </a:rPr>
              <a:t>ARBEITSAUFTRAG 3.3</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Partnerarbeit · 14 min</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Barmen in eigener Sprache</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1800" b="0" i="0">
                <a:solidFill>
                  <a:srgbClr val="151A21"/>
                </a:solidFill>
                <a:latin typeface="Calibri"/>
              </a:rPr>
              <a:t>1.  Lest These 1 laut vor — einmal ganz, ohne zu stocken.</a:t>
            </a:r>
          </a:p>
          <a:p>
            <a:pPr algn="l">
              <a:lnSpc>
                <a:spcPct val="142000"/>
              </a:lnSpc>
            </a:pPr>
            <a:r>
              <a:rPr sz="1800" b="0" i="0">
                <a:solidFill>
                  <a:srgbClr val="151A21"/>
                </a:solidFill>
                <a:latin typeface="Calibri"/>
              </a:rPr>
              <a:t>2.  Übersetzt sie in höchstens 25 Wörter heutiger Alltagssprache. Kein Wort aus dem Original außer „Gott“ und „Jesus Christus“.</a:t>
            </a:r>
          </a:p>
          <a:p>
            <a:pPr algn="l">
              <a:lnSpc>
                <a:spcPct val="142000"/>
              </a:lnSpc>
            </a:pPr>
            <a:r>
              <a:rPr sz="1800" b="0" i="0">
                <a:solidFill>
                  <a:srgbClr val="151A21"/>
                </a:solidFill>
                <a:latin typeface="Calibri"/>
              </a:rPr>
              <a:t>3.  Schreibt euren eigenen Verwerfungssatz für 1934: „Wir verwerfen die falsche Lehre, als ob …“</a:t>
            </a:r>
          </a:p>
          <a:p>
            <a:pPr algn="l">
              <a:lnSpc>
                <a:spcPct val="142000"/>
              </a:lnSpc>
            </a:pPr>
            <a:r>
              <a:rPr sz="1800" b="0" i="0">
                <a:solidFill>
                  <a:srgbClr val="151A21"/>
                </a:solidFill>
                <a:latin typeface="Calibri"/>
              </a:rPr>
              <a:t>4.  Haltet fest: Wem tut dieser Satz weh? Nennt zwei Gruppen.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1148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M14 · LANDESBISCHOF HANS MEISER</a:t>
            </a:r>
          </a:p>
        </p:txBody>
      </p:sp>
      <p:sp>
        <p:nvSpPr>
          <p:cNvPr id="3" name="TextBox 2"/>
          <p:cNvSpPr txBox="1"/>
          <p:nvPr/>
        </p:nvSpPr>
        <p:spPr>
          <a:xfrm>
            <a:off x="777240" y="868680"/>
            <a:ext cx="10637215" cy="731520"/>
          </a:xfrm>
          <a:prstGeom prst="rect">
            <a:avLst/>
          </a:prstGeom>
          <a:noFill/>
        </p:spPr>
        <p:txBody>
          <a:bodyPr wrap="square" anchor="t">
            <a:spAutoFit/>
          </a:bodyPr>
          <a:lstStyle/>
          <a:p>
            <a:pPr algn="l">
              <a:lnSpc>
                <a:spcPct val="125000"/>
              </a:lnSpc>
            </a:pPr>
            <a:r>
              <a:rPr sz="3400" b="1" i="0">
                <a:solidFill>
                  <a:srgbClr val="151A21"/>
                </a:solidFill>
                <a:latin typeface="Georgia"/>
              </a:rPr>
              <a:t>Wie umgehen mit halben Helden?</a:t>
            </a:r>
          </a:p>
        </p:txBody>
      </p:sp>
      <p:sp>
        <p:nvSpPr>
          <p:cNvPr id="4" name="Rectangle 3"/>
          <p:cNvSpPr/>
          <p:nvPr/>
        </p:nvSpPr>
        <p:spPr>
          <a:xfrm>
            <a:off x="777240" y="1783080"/>
            <a:ext cx="5135727" cy="4114800"/>
          </a:xfrm>
          <a:prstGeom prst="rect">
            <a:avLst/>
          </a:prstGeom>
          <a:solidFill>
            <a:srgbClr val="FFFFFF"/>
          </a:solidFill>
          <a:ln w="19050">
            <a:solidFill>
              <a:srgbClr val="265F5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777240" y="1783080"/>
            <a:ext cx="5135727" cy="566928"/>
          </a:xfrm>
          <a:prstGeom prst="rect">
            <a:avLst/>
          </a:prstGeom>
          <a:solidFill>
            <a:srgbClr val="E2ED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05840" y="1883664"/>
            <a:ext cx="4678527" cy="411480"/>
          </a:xfrm>
          <a:prstGeom prst="rect">
            <a:avLst/>
          </a:prstGeom>
          <a:noFill/>
        </p:spPr>
        <p:txBody>
          <a:bodyPr wrap="square" anchor="t">
            <a:spAutoFit/>
          </a:bodyPr>
          <a:lstStyle/>
          <a:p>
            <a:pPr algn="l">
              <a:lnSpc>
                <a:spcPct val="125000"/>
              </a:lnSpc>
            </a:pPr>
            <a:r>
              <a:rPr sz="1700" b="1" i="0">
                <a:solidFill>
                  <a:srgbClr val="265F53"/>
                </a:solidFill>
                <a:latin typeface="Georgia"/>
              </a:rPr>
              <a:t>Das spricht für ihn</a:t>
            </a:r>
          </a:p>
        </p:txBody>
      </p:sp>
      <p:sp>
        <p:nvSpPr>
          <p:cNvPr id="7" name="TextBox 6"/>
          <p:cNvSpPr txBox="1"/>
          <p:nvPr/>
        </p:nvSpPr>
        <p:spPr>
          <a:xfrm>
            <a:off x="1005840" y="2560320"/>
            <a:ext cx="4678527" cy="3200400"/>
          </a:xfrm>
          <a:prstGeom prst="rect">
            <a:avLst/>
          </a:prstGeom>
          <a:noFill/>
        </p:spPr>
        <p:txBody>
          <a:bodyPr wrap="square" anchor="t">
            <a:spAutoFit/>
          </a:bodyPr>
          <a:lstStyle/>
          <a:p>
            <a:pPr algn="l">
              <a:lnSpc>
                <a:spcPct val="145000"/>
              </a:lnSpc>
            </a:pPr>
            <a:r>
              <a:rPr sz="1600" b="0" i="0">
                <a:solidFill>
                  <a:srgbClr val="151A21"/>
                </a:solidFill>
                <a:latin typeface="Calibri"/>
              </a:rPr>
              <a:t>•  Verhinderte die Eingliederung der bayerischen Landeskirche in die Reichskirche</a:t>
            </a:r>
          </a:p>
          <a:p>
            <a:pPr algn="l">
              <a:lnSpc>
                <a:spcPct val="145000"/>
              </a:lnSpc>
            </a:pPr>
            <a:r>
              <a:rPr sz="1600" b="0" i="0">
                <a:solidFill>
                  <a:srgbClr val="151A21"/>
                </a:solidFill>
                <a:latin typeface="Calibri"/>
              </a:rPr>
              <a:t>•  Oktober 1934 Hausarrest — Tausende demonstrierten in Franken für ihn</a:t>
            </a:r>
          </a:p>
          <a:p>
            <a:pPr algn="l">
              <a:lnSpc>
                <a:spcPct val="145000"/>
              </a:lnSpc>
            </a:pPr>
            <a:r>
              <a:rPr sz="1600" b="0" i="0">
                <a:solidFill>
                  <a:srgbClr val="151A21"/>
                </a:solidFill>
                <a:latin typeface="Calibri"/>
              </a:rPr>
              <a:t>•  Die bayerische Landeskirche blieb „intakt“</a:t>
            </a:r>
          </a:p>
          <a:p>
            <a:pPr algn="l">
              <a:lnSpc>
                <a:spcPct val="145000"/>
              </a:lnSpc>
            </a:pPr>
            <a:r>
              <a:rPr sz="1600" b="0" i="0">
                <a:solidFill>
                  <a:srgbClr val="151A21"/>
                </a:solidFill>
                <a:latin typeface="Calibri"/>
              </a:rPr>
              <a:t>•  Baute die Kirche nach 1945 wieder auf</a:t>
            </a:r>
          </a:p>
        </p:txBody>
      </p:sp>
      <p:sp>
        <p:nvSpPr>
          <p:cNvPr id="8" name="Rectangle 7"/>
          <p:cNvSpPr/>
          <p:nvPr/>
        </p:nvSpPr>
        <p:spPr>
          <a:xfrm>
            <a:off x="6278727" y="1783080"/>
            <a:ext cx="5135727" cy="4114800"/>
          </a:xfrm>
          <a:prstGeom prst="rect">
            <a:avLst/>
          </a:prstGeom>
          <a:solidFill>
            <a:srgbClr val="FFFFFF"/>
          </a:solidFill>
          <a:ln w="19050">
            <a:solidFill>
              <a:srgbClr val="8C2A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78727" y="1783080"/>
            <a:ext cx="5135727" cy="566928"/>
          </a:xfrm>
          <a:prstGeom prst="rect">
            <a:avLst/>
          </a:prstGeom>
          <a:solidFill>
            <a:srgbClr val="F6E7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07327" y="1883664"/>
            <a:ext cx="4678527" cy="411480"/>
          </a:xfrm>
          <a:prstGeom prst="rect">
            <a:avLst/>
          </a:prstGeom>
          <a:noFill/>
        </p:spPr>
        <p:txBody>
          <a:bodyPr wrap="square" anchor="t">
            <a:spAutoFit/>
          </a:bodyPr>
          <a:lstStyle/>
          <a:p>
            <a:pPr algn="l">
              <a:lnSpc>
                <a:spcPct val="125000"/>
              </a:lnSpc>
            </a:pPr>
            <a:r>
              <a:rPr sz="1700" b="1" i="0">
                <a:solidFill>
                  <a:srgbClr val="8C2A24"/>
                </a:solidFill>
                <a:latin typeface="Georgia"/>
              </a:rPr>
              <a:t>Das spricht gegen ihn</a:t>
            </a:r>
          </a:p>
        </p:txBody>
      </p:sp>
      <p:sp>
        <p:nvSpPr>
          <p:cNvPr id="11" name="TextBox 10"/>
          <p:cNvSpPr txBox="1"/>
          <p:nvPr/>
        </p:nvSpPr>
        <p:spPr>
          <a:xfrm>
            <a:off x="6507327" y="2560320"/>
            <a:ext cx="4678527" cy="3200400"/>
          </a:xfrm>
          <a:prstGeom prst="rect">
            <a:avLst/>
          </a:prstGeom>
          <a:noFill/>
        </p:spPr>
        <p:txBody>
          <a:bodyPr wrap="square" anchor="t">
            <a:spAutoFit/>
          </a:bodyPr>
          <a:lstStyle/>
          <a:p>
            <a:pPr algn="l">
              <a:lnSpc>
                <a:spcPct val="145000"/>
              </a:lnSpc>
            </a:pPr>
            <a:r>
              <a:rPr sz="1600" b="0" i="0">
                <a:solidFill>
                  <a:srgbClr val="151A21"/>
                </a:solidFill>
                <a:latin typeface="Calibri"/>
              </a:rPr>
              <a:t>•  Äußerte sich antijudaistisch</a:t>
            </a:r>
          </a:p>
          <a:p>
            <a:pPr algn="l">
              <a:lnSpc>
                <a:spcPct val="145000"/>
              </a:lnSpc>
            </a:pPr>
            <a:r>
              <a:rPr sz="1600" b="0" i="0">
                <a:solidFill>
                  <a:srgbClr val="151A21"/>
                </a:solidFill>
                <a:latin typeface="Calibri"/>
              </a:rPr>
              <a:t>•  Schwieg öffentlich zur Verfolgung und Deportation der Juden</a:t>
            </a:r>
          </a:p>
          <a:p>
            <a:pPr algn="l">
              <a:lnSpc>
                <a:spcPct val="145000"/>
              </a:lnSpc>
            </a:pPr>
            <a:r>
              <a:rPr sz="1600" b="0" i="0">
                <a:solidFill>
                  <a:srgbClr val="151A21"/>
                </a:solidFill>
                <a:latin typeface="Calibri"/>
              </a:rPr>
              <a:t>•  War nachsichtig mit belasteten Pfarrern nach 1945</a:t>
            </a:r>
          </a:p>
          <a:p>
            <a:pPr algn="l">
              <a:lnSpc>
                <a:spcPct val="145000"/>
              </a:lnSpc>
            </a:pPr>
            <a:r>
              <a:rPr sz="1600" b="0" i="0">
                <a:solidFill>
                  <a:srgbClr val="151A21"/>
                </a:solidFill>
                <a:latin typeface="Calibri"/>
              </a:rPr>
              <a:t>•  Straßen in München (2007) und Nürnberg (2010) wurden umbenannt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777240" y="2103120"/>
            <a:ext cx="10058400" cy="457200"/>
          </a:xfrm>
          <a:prstGeom prst="rect">
            <a:avLst/>
          </a:prstGeom>
          <a:noFill/>
        </p:spPr>
        <p:txBody>
          <a:bodyPr wrap="square" anchor="t">
            <a:spAutoFit/>
          </a:bodyPr>
          <a:lstStyle/>
          <a:p>
            <a:pPr algn="l">
              <a:lnSpc>
                <a:spcPct val="125000"/>
              </a:lnSpc>
            </a:pPr>
            <a:r>
              <a:rPr sz="1500" b="0" i="0" spc="240">
                <a:solidFill>
                  <a:srgbClr val="9FBAD8"/>
                </a:solidFill>
                <a:latin typeface="Consolas"/>
              </a:rPr>
              <a:t>DOPPELSTUNDE 4</a:t>
            </a:r>
          </a:p>
        </p:txBody>
      </p:sp>
      <p:sp>
        <p:nvSpPr>
          <p:cNvPr id="3" name="TextBox 2"/>
          <p:cNvSpPr txBox="1"/>
          <p:nvPr/>
        </p:nvSpPr>
        <p:spPr>
          <a:xfrm>
            <a:off x="777240" y="2651760"/>
            <a:ext cx="10241280" cy="1463040"/>
          </a:xfrm>
          <a:prstGeom prst="rect">
            <a:avLst/>
          </a:prstGeom>
          <a:noFill/>
        </p:spPr>
        <p:txBody>
          <a:bodyPr wrap="square" anchor="t">
            <a:spAutoFit/>
          </a:bodyPr>
          <a:lstStyle/>
          <a:p>
            <a:pPr algn="l">
              <a:lnSpc>
                <a:spcPct val="105000"/>
              </a:lnSpc>
            </a:pPr>
            <a:r>
              <a:rPr sz="5400" b="1" i="0">
                <a:solidFill>
                  <a:srgbClr val="FFFFFF"/>
                </a:solidFill>
                <a:latin typeface="Georgia"/>
              </a:rPr>
              <a:t>Was hätte ich getan?</a:t>
            </a:r>
          </a:p>
        </p:txBody>
      </p:sp>
      <p:sp>
        <p:nvSpPr>
          <p:cNvPr id="4" name="TextBox 3"/>
          <p:cNvSpPr txBox="1"/>
          <p:nvPr/>
        </p:nvSpPr>
        <p:spPr>
          <a:xfrm>
            <a:off x="777240" y="4206240"/>
            <a:ext cx="8778240" cy="1097280"/>
          </a:xfrm>
          <a:prstGeom prst="rect">
            <a:avLst/>
          </a:prstGeom>
          <a:noFill/>
        </p:spPr>
        <p:txBody>
          <a:bodyPr wrap="square" anchor="t">
            <a:spAutoFit/>
          </a:bodyPr>
          <a:lstStyle/>
          <a:p>
            <a:pPr algn="l">
              <a:lnSpc>
                <a:spcPct val="125000"/>
              </a:lnSpc>
            </a:pPr>
            <a:r>
              <a:rPr sz="2100" b="0" i="1">
                <a:solidFill>
                  <a:srgbClr val="C8D8EA"/>
                </a:solidFill>
                <a:latin typeface="Georgia"/>
              </a:rPr>
              <a:t>Fünf Biografien an einer Wäscheleine — zwischen Anpassung und Widerstand.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M15 · CHORLESUNG</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2500" b="0" i="0">
                <a:solidFill>
                  <a:srgbClr val="151A21"/>
                </a:solidFill>
                <a:latin typeface="Georgia"/>
              </a:rPr>
              <a:t>Als die Nationalsozialisten die Kommunisten holten, habe ich geschwiegen; ich war ja kein Kommunist.</a:t>
            </a:r>
          </a:p>
          <a:p>
            <a:pPr algn="l">
              <a:lnSpc>
                <a:spcPct val="132000"/>
              </a:lnSpc>
            </a:pPr>
            <a:r>
              <a:rPr sz="2500" b="0" i="0">
                <a:solidFill>
                  <a:srgbClr val="151A21"/>
                </a:solidFill>
                <a:latin typeface="Georgia"/>
              </a:rPr>
              <a:t/>
            </a:r>
          </a:p>
          <a:p>
            <a:pPr algn="l">
              <a:lnSpc>
                <a:spcPct val="132000"/>
              </a:lnSpc>
            </a:pPr>
            <a:r>
              <a:rPr sz="2500" b="0" i="0">
                <a:solidFill>
                  <a:srgbClr val="151A21"/>
                </a:solidFill>
                <a:latin typeface="Georgia"/>
              </a:rPr>
              <a:t>Als sie die Sozialdemokraten einsperrten, habe ich geschwiegen; ich war ja kein Sozialdemokrat.</a:t>
            </a:r>
          </a:p>
          <a:p>
            <a:pPr algn="l">
              <a:lnSpc>
                <a:spcPct val="132000"/>
              </a:lnSpc>
            </a:pPr>
            <a:r>
              <a:rPr sz="2500" b="0" i="0">
                <a:solidFill>
                  <a:srgbClr val="151A21"/>
                </a:solidFill>
                <a:latin typeface="Georgia"/>
              </a:rPr>
              <a:t/>
            </a:r>
          </a:p>
          <a:p>
            <a:pPr algn="l">
              <a:lnSpc>
                <a:spcPct val="132000"/>
              </a:lnSpc>
            </a:pPr>
            <a:r>
              <a:rPr sz="2500" b="0" i="0">
                <a:solidFill>
                  <a:srgbClr val="151A21"/>
                </a:solidFill>
                <a:latin typeface="Georgia"/>
              </a:rPr>
              <a:t>Als sie die Gewerkschafter holten, habe ich geschwiegen; ich war ja kein Gewerkschafter.</a:t>
            </a:r>
          </a:p>
          <a:p>
            <a:pPr algn="l">
              <a:lnSpc>
                <a:spcPct val="132000"/>
              </a:lnSpc>
            </a:pPr>
            <a:r>
              <a:rPr sz="2500" b="0" i="0">
                <a:solidFill>
                  <a:srgbClr val="151A21"/>
                </a:solidFill>
                <a:latin typeface="Georgia"/>
              </a:rPr>
              <a:t/>
            </a:r>
          </a:p>
          <a:p>
            <a:pPr algn="l">
              <a:lnSpc>
                <a:spcPct val="132000"/>
              </a:lnSpc>
            </a:pPr>
            <a:r>
              <a:rPr sz="2500" b="0" i="0">
                <a:solidFill>
                  <a:srgbClr val="151A21"/>
                </a:solidFill>
                <a:latin typeface="Georgia"/>
              </a:rPr>
              <a:t>Als sie mich holten, gab es keinen mehr, der protestieren konnte.</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Martin Niemöller · keine autorisierte Urfassung — er hat den Gedanken mehrfach anders formuliert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0EBDF"/>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STILLE ARBEIT · 3 MIN</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4000" b="0" i="0">
                <a:solidFill>
                  <a:srgbClr val="151A21"/>
                </a:solidFill>
                <a:latin typeface="Georgia"/>
              </a:rPr>
              <a:t>Wobei würde ich heute wegschauen?</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Ein Satz. Wird nicht eingesammelt und nicht vorgelesen. Der Zettel gehört dir.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E5EC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1E3A5F"/>
                </a:solidFill>
                <a:latin typeface="Consolas"/>
              </a:rPr>
              <a:t>ARBEITSAUFTRAG 4.2</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Gruppenarbeit · 26 min</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Fünf Biografien, fünf Personenkarten</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1600" b="0" i="0">
                <a:solidFill>
                  <a:srgbClr val="151A21"/>
                </a:solidFill>
                <a:latin typeface="Calibri"/>
              </a:rPr>
              <a:t>1.  Gestaltet die Personenkarte: Name · Lebensdaten · EINE Entscheidung, die alles veränderte · was sie gekostet hat.</a:t>
            </a:r>
          </a:p>
          <a:p>
            <a:pPr algn="l">
              <a:lnSpc>
                <a:spcPct val="142000"/>
              </a:lnSpc>
            </a:pPr>
            <a:r>
              <a:rPr sz="1600" b="0" i="0">
                <a:solidFill>
                  <a:srgbClr val="151A21"/>
                </a:solidFill>
                <a:latin typeface="Calibri"/>
              </a:rPr>
              <a:t>2.  Sucht den Satz eurer Person im Text und schreibt ihn groß auf die Rückseite.</a:t>
            </a:r>
          </a:p>
          <a:p>
            <a:pPr algn="l">
              <a:lnSpc>
                <a:spcPct val="142000"/>
              </a:lnSpc>
            </a:pPr>
            <a:r>
              <a:rPr sz="1600" b="0" i="0">
                <a:solidFill>
                  <a:srgbClr val="151A21"/>
                </a:solidFill>
                <a:latin typeface="Calibri"/>
              </a:rPr>
              <a:t>3.  Ordnet eure Person auf der Skala ein: 1 = Anpassung, 5 = Widerstand unter Lebensgefahr. Ein Satz, warum nicht eine Stufe höher oder tiefer.</a:t>
            </a:r>
          </a:p>
          <a:p>
            <a:pPr algn="l">
              <a:lnSpc>
                <a:spcPct val="142000"/>
              </a:lnSpc>
            </a:pPr>
            <a:r>
              <a:rPr sz="1600" b="0" i="0">
                <a:solidFill>
                  <a:srgbClr val="151A21"/>
                </a:solidFill>
                <a:latin typeface="Calibri"/>
              </a:rPr>
              <a:t>4.  Beantwortet für euch, ohne es aufzuschreiben: Hätte diese Person mehr tun können? Was?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265F5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E2ED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265F53"/>
                </a:solidFill>
                <a:latin typeface="Consolas"/>
              </a:rPr>
              <a:t>ARBEITSAUFTRAG 4.3</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Placemat · 12 min</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Was macht Widerstand wahrscheinlicher?</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1800" b="0" i="0">
                <a:solidFill>
                  <a:srgbClr val="151A21"/>
                </a:solidFill>
                <a:latin typeface="Calibri"/>
              </a:rPr>
              <a:t>1.  ALLEIN (4 min) — Jede und jeder schreibt ins eigene Außenfeld drei Bedingungen, die es Menschen leichter gemacht haben zu widersprechen.</a:t>
            </a:r>
          </a:p>
          <a:p>
            <a:pPr algn="l">
              <a:lnSpc>
                <a:spcPct val="142000"/>
              </a:lnSpc>
            </a:pPr>
            <a:r>
              <a:rPr sz="1800" b="0" i="0">
                <a:solidFill>
                  <a:srgbClr val="151A21"/>
                </a:solidFill>
                <a:latin typeface="Calibri"/>
              </a:rPr>
              <a:t>2.  REIHUM (4 min) — Jede und jeder liest vor. Es wird nicht diskutiert.</a:t>
            </a:r>
          </a:p>
          <a:p>
            <a:pPr algn="l">
              <a:lnSpc>
                <a:spcPct val="142000"/>
              </a:lnSpc>
            </a:pPr>
            <a:r>
              <a:rPr sz="1800" b="0" i="0">
                <a:solidFill>
                  <a:srgbClr val="151A21"/>
                </a:solidFill>
                <a:latin typeface="Calibri"/>
              </a:rPr>
              <a:t>3.  GEMEINSAM (4 min) — Einigt euch auf die drei wichtigsten Bedingungen und schreibt sie groß in die Mitte.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51A21"/>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8B95A3"/>
                </a:solidFill>
                <a:latin typeface="Consolas"/>
              </a:rPr>
              <a:t>M18 · STUNDENSCHLUSS</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4000" b="0" i="0">
                <a:solidFill>
                  <a:srgbClr val="F3F5F7"/>
                </a:solidFill>
                <a:latin typeface="Georgia"/>
              </a:rPr>
              <a:t>„Dies ist das Ende — für mich der Beginn des Lebens.“</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Dietrich Bonhoeffer, wenige Tage vor seiner Hinrichtung im KZ Flossenbürg, April 1945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777240" y="2103120"/>
            <a:ext cx="10058400" cy="457200"/>
          </a:xfrm>
          <a:prstGeom prst="rect">
            <a:avLst/>
          </a:prstGeom>
          <a:noFill/>
        </p:spPr>
        <p:txBody>
          <a:bodyPr wrap="square" anchor="t">
            <a:spAutoFit/>
          </a:bodyPr>
          <a:lstStyle/>
          <a:p>
            <a:pPr algn="l">
              <a:lnSpc>
                <a:spcPct val="125000"/>
              </a:lnSpc>
            </a:pPr>
            <a:r>
              <a:rPr sz="1500" b="0" i="0" spc="240">
                <a:solidFill>
                  <a:srgbClr val="9FBAD8"/>
                </a:solidFill>
                <a:latin typeface="Consolas"/>
              </a:rPr>
              <a:t>DOPPELSTUNDE 5</a:t>
            </a:r>
          </a:p>
        </p:txBody>
      </p:sp>
      <p:sp>
        <p:nvSpPr>
          <p:cNvPr id="3" name="TextBox 2"/>
          <p:cNvSpPr txBox="1"/>
          <p:nvPr/>
        </p:nvSpPr>
        <p:spPr>
          <a:xfrm>
            <a:off x="777240" y="2651760"/>
            <a:ext cx="10241280" cy="1463040"/>
          </a:xfrm>
          <a:prstGeom prst="rect">
            <a:avLst/>
          </a:prstGeom>
          <a:noFill/>
        </p:spPr>
        <p:txBody>
          <a:bodyPr wrap="square" anchor="t">
            <a:spAutoFit/>
          </a:bodyPr>
          <a:lstStyle/>
          <a:p>
            <a:pPr algn="l">
              <a:lnSpc>
                <a:spcPct val="105000"/>
              </a:lnSpc>
            </a:pPr>
            <a:r>
              <a:rPr sz="5400" b="1" i="0">
                <a:solidFill>
                  <a:srgbClr val="FFFFFF"/>
                </a:solidFill>
                <a:latin typeface="Georgia"/>
              </a:rPr>
              <a:t>Kerzen statt Steine</a:t>
            </a:r>
          </a:p>
        </p:txBody>
      </p:sp>
      <p:sp>
        <p:nvSpPr>
          <p:cNvPr id="4" name="TextBox 3"/>
          <p:cNvSpPr txBox="1"/>
          <p:nvPr/>
        </p:nvSpPr>
        <p:spPr>
          <a:xfrm>
            <a:off x="777240" y="4206240"/>
            <a:ext cx="8778240" cy="1097280"/>
          </a:xfrm>
          <a:prstGeom prst="rect">
            <a:avLst/>
          </a:prstGeom>
          <a:noFill/>
        </p:spPr>
        <p:txBody>
          <a:bodyPr wrap="square" anchor="t">
            <a:spAutoFit/>
          </a:bodyPr>
          <a:lstStyle/>
          <a:p>
            <a:pPr algn="l">
              <a:lnSpc>
                <a:spcPct val="125000"/>
              </a:lnSpc>
            </a:pPr>
            <a:r>
              <a:rPr sz="2100" b="0" i="1">
                <a:solidFill>
                  <a:srgbClr val="C8D8EA"/>
                </a:solidFill>
                <a:latin typeface="Georgia"/>
              </a:rPr>
              <a:t>Kirche in der DDR — und wie aus Friedensgebeten eine Revolution wurde.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51A21"/>
        </a:solidFill>
        <a:effectLst/>
      </p:bgPr>
    </p:bg>
    <p:spTree>
      <p:nvGrpSpPr>
        <p:cNvPr id="1" name=""/>
        <p:cNvGrpSpPr/>
        <p:nvPr/>
      </p:nvGrpSpPr>
      <p:grpSpPr/>
      <p:pic>
        <p:nvPicPr>
          <p:cNvPr id="2" name="Picture 1" descr="image.jpg"/>
          <p:cNvPicPr>
            <a:picLocks noChangeAspect="1"/>
          </p:cNvPicPr>
          <p:nvPr/>
        </p:nvPicPr>
        <p:blipFill>
          <a:blip r:embed="rId2"/>
          <a:srcRect t="26580" b="26580"/>
          <a:stretch>
            <a:fillRect/>
          </a:stretch>
        </p:blipFill>
        <p:spPr>
          <a:xfrm>
            <a:off x="0" y="0"/>
            <a:ext cx="12191695" cy="5532120"/>
          </a:xfrm>
          <a:prstGeom prst="rect">
            <a:avLst/>
          </a:prstGeom>
        </p:spPr>
      </p:pic>
      <p:sp>
        <p:nvSpPr>
          <p:cNvPr id="3" name="Rectangle 2"/>
          <p:cNvSpPr/>
          <p:nvPr/>
        </p:nvSpPr>
        <p:spPr>
          <a:xfrm>
            <a:off x="320040" y="274320"/>
            <a:ext cx="1371600" cy="384048"/>
          </a:xfrm>
          <a:prstGeom prst="rect">
            <a:avLst/>
          </a:prstGeom>
          <a:solidFill>
            <a:srgbClr val="151A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11480" y="310896"/>
            <a:ext cx="1280160" cy="320040"/>
          </a:xfrm>
          <a:prstGeom prst="rect">
            <a:avLst/>
          </a:prstGeom>
          <a:noFill/>
        </p:spPr>
        <p:txBody>
          <a:bodyPr wrap="square" anchor="t">
            <a:spAutoFit/>
          </a:bodyPr>
          <a:lstStyle/>
          <a:p>
            <a:pPr algn="l">
              <a:lnSpc>
                <a:spcPct val="125000"/>
              </a:lnSpc>
            </a:pPr>
            <a:r>
              <a:rPr sz="1200" b="0" i="0" spc="140">
                <a:solidFill>
                  <a:srgbClr val="FFFFFF"/>
                </a:solidFill>
                <a:latin typeface="Consolas"/>
              </a:rPr>
              <a:t>M19</a:t>
            </a:r>
          </a:p>
        </p:txBody>
      </p:sp>
      <p:sp>
        <p:nvSpPr>
          <p:cNvPr id="5" name="TextBox 4"/>
          <p:cNvSpPr txBox="1"/>
          <p:nvPr/>
        </p:nvSpPr>
        <p:spPr>
          <a:xfrm>
            <a:off x="777240" y="5760720"/>
            <a:ext cx="10637215" cy="914400"/>
          </a:xfrm>
          <a:prstGeom prst="rect">
            <a:avLst/>
          </a:prstGeom>
          <a:noFill/>
        </p:spPr>
        <p:txBody>
          <a:bodyPr wrap="square" anchor="t">
            <a:spAutoFit/>
          </a:bodyPr>
          <a:lstStyle/>
          <a:p>
            <a:pPr algn="l">
              <a:lnSpc>
                <a:spcPct val="125000"/>
              </a:lnSpc>
            </a:pPr>
            <a:r>
              <a:rPr sz="1700" b="0" i="0">
                <a:solidFill>
                  <a:srgbClr val="D8DDE4"/>
                </a:solidFill>
                <a:latin typeface="Calibri"/>
              </a:rPr>
              <a:t>Das Zeichen der kirchlichen Friedensbewegung in der DDR. Als Aufnäher auf der Jacke konnte es das Abitur kosten.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M19 · DER BIBELVERS AUF DEM EMBLEM</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3200" b="0" i="0">
                <a:solidFill>
                  <a:srgbClr val="151A21"/>
                </a:solidFill>
                <a:latin typeface="Georgia"/>
              </a:rPr>
              <a:t>„Sie werden ihre Schwerter zu Pflugscharen und ihre Spieße zu Sicheln machen. Es wird kein Volk wider das andere das Schwert erheben, und sie werden hinfort nicht mehr lernen, Krieg zu führen.“</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Micha 4,3 · Lutherbibel 2017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1148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M20 · INPUT</a:t>
            </a:r>
          </a:p>
        </p:txBody>
      </p:sp>
      <p:sp>
        <p:nvSpPr>
          <p:cNvPr id="3" name="TextBox 2"/>
          <p:cNvSpPr txBox="1"/>
          <p:nvPr/>
        </p:nvSpPr>
        <p:spPr>
          <a:xfrm>
            <a:off x="777240" y="914400"/>
            <a:ext cx="10637215" cy="822960"/>
          </a:xfrm>
          <a:prstGeom prst="rect">
            <a:avLst/>
          </a:prstGeom>
          <a:noFill/>
        </p:spPr>
        <p:txBody>
          <a:bodyPr wrap="square" anchor="t">
            <a:spAutoFit/>
          </a:bodyPr>
          <a:lstStyle/>
          <a:p>
            <a:pPr algn="l">
              <a:lnSpc>
                <a:spcPct val="125000"/>
              </a:lnSpc>
            </a:pPr>
            <a:r>
              <a:rPr sz="3800" b="1" i="0">
                <a:solidFill>
                  <a:srgbClr val="151A21"/>
                </a:solidFill>
                <a:latin typeface="Georgia"/>
              </a:rPr>
              <a:t>Kirche im Sozialismus</a:t>
            </a:r>
          </a:p>
        </p:txBody>
      </p:sp>
      <p:sp>
        <p:nvSpPr>
          <p:cNvPr id="4" name="Rectangle 3"/>
          <p:cNvSpPr/>
          <p:nvPr/>
        </p:nvSpPr>
        <p:spPr>
          <a:xfrm>
            <a:off x="777240" y="1975104"/>
            <a:ext cx="45720" cy="56692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33272" y="1920240"/>
            <a:ext cx="3108960" cy="841248"/>
          </a:xfrm>
          <a:prstGeom prst="rect">
            <a:avLst/>
          </a:prstGeom>
          <a:noFill/>
        </p:spPr>
        <p:txBody>
          <a:bodyPr wrap="square" anchor="t">
            <a:spAutoFit/>
          </a:bodyPr>
          <a:lstStyle/>
          <a:p>
            <a:pPr algn="l">
              <a:lnSpc>
                <a:spcPct val="125000"/>
              </a:lnSpc>
            </a:pPr>
            <a:r>
              <a:rPr sz="1900" b="1" i="0">
                <a:solidFill>
                  <a:srgbClr val="1E3A5F"/>
                </a:solidFill>
                <a:latin typeface="Georgia"/>
              </a:rPr>
              <a:t>1 · Geduldet</a:t>
            </a:r>
          </a:p>
        </p:txBody>
      </p:sp>
      <p:sp>
        <p:nvSpPr>
          <p:cNvPr id="6" name="TextBox 5"/>
          <p:cNvSpPr txBox="1"/>
          <p:nvPr/>
        </p:nvSpPr>
        <p:spPr>
          <a:xfrm>
            <a:off x="4251960" y="1920240"/>
            <a:ext cx="7162495" cy="841248"/>
          </a:xfrm>
          <a:prstGeom prst="rect">
            <a:avLst/>
          </a:prstGeom>
          <a:noFill/>
        </p:spPr>
        <p:txBody>
          <a:bodyPr wrap="square" anchor="t">
            <a:spAutoFit/>
          </a:bodyPr>
          <a:lstStyle/>
          <a:p>
            <a:pPr algn="l">
              <a:lnSpc>
                <a:spcPct val="125000"/>
              </a:lnSpc>
            </a:pPr>
            <a:r>
              <a:rPr sz="1800" b="0" i="0">
                <a:solidFill>
                  <a:srgbClr val="151A21"/>
                </a:solidFill>
                <a:latin typeface="Calibri"/>
              </a:rPr>
              <a:t>Der Staat ist atheistisch. Religion gilt als Rest der Vergangenheit. Verboten wird die Kirche nicht — sie wird an den Rand gedrängt.</a:t>
            </a:r>
          </a:p>
        </p:txBody>
      </p:sp>
      <p:sp>
        <p:nvSpPr>
          <p:cNvPr id="7" name="Rectangle 6"/>
          <p:cNvSpPr/>
          <p:nvPr/>
        </p:nvSpPr>
        <p:spPr>
          <a:xfrm>
            <a:off x="777240" y="2816352"/>
            <a:ext cx="45720" cy="56692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2761488"/>
            <a:ext cx="3108960" cy="841248"/>
          </a:xfrm>
          <a:prstGeom prst="rect">
            <a:avLst/>
          </a:prstGeom>
          <a:noFill/>
        </p:spPr>
        <p:txBody>
          <a:bodyPr wrap="square" anchor="t">
            <a:spAutoFit/>
          </a:bodyPr>
          <a:lstStyle/>
          <a:p>
            <a:pPr algn="l">
              <a:lnSpc>
                <a:spcPct val="125000"/>
              </a:lnSpc>
            </a:pPr>
            <a:r>
              <a:rPr sz="1900" b="1" i="0">
                <a:solidFill>
                  <a:srgbClr val="1E3A5F"/>
                </a:solidFill>
                <a:latin typeface="Georgia"/>
              </a:rPr>
              <a:t>2 · Teuer</a:t>
            </a:r>
          </a:p>
        </p:txBody>
      </p:sp>
      <p:sp>
        <p:nvSpPr>
          <p:cNvPr id="9" name="TextBox 8"/>
          <p:cNvSpPr txBox="1"/>
          <p:nvPr/>
        </p:nvSpPr>
        <p:spPr>
          <a:xfrm>
            <a:off x="4251960" y="2761488"/>
            <a:ext cx="7162495" cy="841248"/>
          </a:xfrm>
          <a:prstGeom prst="rect">
            <a:avLst/>
          </a:prstGeom>
          <a:noFill/>
        </p:spPr>
        <p:txBody>
          <a:bodyPr wrap="square" anchor="t">
            <a:spAutoFit/>
          </a:bodyPr>
          <a:lstStyle/>
          <a:p>
            <a:pPr algn="l">
              <a:lnSpc>
                <a:spcPct val="125000"/>
              </a:lnSpc>
            </a:pPr>
            <a:r>
              <a:rPr sz="1800" b="0" i="0">
                <a:solidFill>
                  <a:srgbClr val="151A21"/>
                </a:solidFill>
                <a:latin typeface="Calibri"/>
              </a:rPr>
              <a:t>Wer in der Kirche aktiv ist, wird beim Abitur benachteiligt. Der Preis für Überzeugung ist die eigene Zukunft.</a:t>
            </a:r>
          </a:p>
        </p:txBody>
      </p:sp>
      <p:sp>
        <p:nvSpPr>
          <p:cNvPr id="10" name="Rectangle 9"/>
          <p:cNvSpPr/>
          <p:nvPr/>
        </p:nvSpPr>
        <p:spPr>
          <a:xfrm>
            <a:off x="777240" y="3657600"/>
            <a:ext cx="45720" cy="56692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33272" y="3602736"/>
            <a:ext cx="3108960" cy="841248"/>
          </a:xfrm>
          <a:prstGeom prst="rect">
            <a:avLst/>
          </a:prstGeom>
          <a:noFill/>
        </p:spPr>
        <p:txBody>
          <a:bodyPr wrap="square" anchor="t">
            <a:spAutoFit/>
          </a:bodyPr>
          <a:lstStyle/>
          <a:p>
            <a:pPr algn="l">
              <a:lnSpc>
                <a:spcPct val="125000"/>
              </a:lnSpc>
            </a:pPr>
            <a:r>
              <a:rPr sz="1900" b="1" i="0">
                <a:solidFill>
                  <a:srgbClr val="1E3A5F"/>
                </a:solidFill>
                <a:latin typeface="Georgia"/>
              </a:rPr>
              <a:t>3 · Jugendweihe</a:t>
            </a:r>
          </a:p>
        </p:txBody>
      </p:sp>
      <p:sp>
        <p:nvSpPr>
          <p:cNvPr id="12" name="TextBox 11"/>
          <p:cNvSpPr txBox="1"/>
          <p:nvPr/>
        </p:nvSpPr>
        <p:spPr>
          <a:xfrm>
            <a:off x="4251960" y="3602736"/>
            <a:ext cx="7162495" cy="841248"/>
          </a:xfrm>
          <a:prstGeom prst="rect">
            <a:avLst/>
          </a:prstGeom>
          <a:noFill/>
        </p:spPr>
        <p:txBody>
          <a:bodyPr wrap="square" anchor="t">
            <a:spAutoFit/>
          </a:bodyPr>
          <a:lstStyle/>
          <a:p>
            <a:pPr algn="l">
              <a:lnSpc>
                <a:spcPct val="125000"/>
              </a:lnSpc>
            </a:pPr>
            <a:r>
              <a:rPr sz="1800" b="0" i="0">
                <a:solidFill>
                  <a:srgbClr val="151A21"/>
                </a:solidFill>
                <a:latin typeface="Calibri"/>
              </a:rPr>
              <a:t>Der Staat schafft ein eigenes Übergangsritual. Formal freiwillig, faktisch fast unumgänglich.</a:t>
            </a:r>
          </a:p>
        </p:txBody>
      </p:sp>
      <p:sp>
        <p:nvSpPr>
          <p:cNvPr id="13" name="Rectangle 12"/>
          <p:cNvSpPr/>
          <p:nvPr/>
        </p:nvSpPr>
        <p:spPr>
          <a:xfrm>
            <a:off x="777240" y="4498848"/>
            <a:ext cx="45720" cy="56692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33272" y="4443984"/>
            <a:ext cx="3108960" cy="841248"/>
          </a:xfrm>
          <a:prstGeom prst="rect">
            <a:avLst/>
          </a:prstGeom>
          <a:noFill/>
        </p:spPr>
        <p:txBody>
          <a:bodyPr wrap="square" anchor="t">
            <a:spAutoFit/>
          </a:bodyPr>
          <a:lstStyle/>
          <a:p>
            <a:pPr algn="l">
              <a:lnSpc>
                <a:spcPct val="125000"/>
              </a:lnSpc>
            </a:pPr>
            <a:r>
              <a:rPr sz="1900" b="1" i="0">
                <a:solidFill>
                  <a:srgbClr val="1E3A5F"/>
                </a:solidFill>
                <a:latin typeface="Georgia"/>
              </a:rPr>
              <a:t>4 · Die Formel 1971</a:t>
            </a:r>
          </a:p>
        </p:txBody>
      </p:sp>
      <p:sp>
        <p:nvSpPr>
          <p:cNvPr id="15" name="TextBox 14"/>
          <p:cNvSpPr txBox="1"/>
          <p:nvPr/>
        </p:nvSpPr>
        <p:spPr>
          <a:xfrm>
            <a:off x="4251960" y="4443984"/>
            <a:ext cx="7162495" cy="841248"/>
          </a:xfrm>
          <a:prstGeom prst="rect">
            <a:avLst/>
          </a:prstGeom>
          <a:noFill/>
        </p:spPr>
        <p:txBody>
          <a:bodyPr wrap="square" anchor="t">
            <a:spAutoFit/>
          </a:bodyPr>
          <a:lstStyle/>
          <a:p>
            <a:pPr algn="l">
              <a:lnSpc>
                <a:spcPct val="125000"/>
              </a:lnSpc>
            </a:pPr>
            <a:r>
              <a:rPr sz="1800" b="0" i="0">
                <a:solidFill>
                  <a:srgbClr val="151A21"/>
                </a:solidFill>
                <a:latin typeface="Calibri"/>
              </a:rPr>
              <a:t>„Kirche im Sozialismus“ — nicht gegen den Staat, nicht für ihn, sondern in ihm. Bis heute umstritten.</a:t>
            </a:r>
          </a:p>
        </p:txBody>
      </p:sp>
      <p:sp>
        <p:nvSpPr>
          <p:cNvPr id="16" name="Rectangle 15"/>
          <p:cNvSpPr/>
          <p:nvPr/>
        </p:nvSpPr>
        <p:spPr>
          <a:xfrm>
            <a:off x="777240" y="5340096"/>
            <a:ext cx="45720" cy="56692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33272" y="5285232"/>
            <a:ext cx="3108960" cy="841248"/>
          </a:xfrm>
          <a:prstGeom prst="rect">
            <a:avLst/>
          </a:prstGeom>
          <a:noFill/>
        </p:spPr>
        <p:txBody>
          <a:bodyPr wrap="square" anchor="t">
            <a:spAutoFit/>
          </a:bodyPr>
          <a:lstStyle/>
          <a:p>
            <a:pPr algn="l">
              <a:lnSpc>
                <a:spcPct val="125000"/>
              </a:lnSpc>
            </a:pPr>
            <a:r>
              <a:rPr sz="1900" b="1" i="0">
                <a:solidFill>
                  <a:srgbClr val="1E3A5F"/>
                </a:solidFill>
                <a:latin typeface="Georgia"/>
              </a:rPr>
              <a:t>5 · Bespitzelt</a:t>
            </a:r>
          </a:p>
        </p:txBody>
      </p:sp>
      <p:sp>
        <p:nvSpPr>
          <p:cNvPr id="18" name="TextBox 17"/>
          <p:cNvSpPr txBox="1"/>
          <p:nvPr/>
        </p:nvSpPr>
        <p:spPr>
          <a:xfrm>
            <a:off x="4251960" y="5285232"/>
            <a:ext cx="7162495" cy="841248"/>
          </a:xfrm>
          <a:prstGeom prst="rect">
            <a:avLst/>
          </a:prstGeom>
          <a:noFill/>
        </p:spPr>
        <p:txBody>
          <a:bodyPr wrap="square" anchor="t">
            <a:spAutoFit/>
          </a:bodyPr>
          <a:lstStyle/>
          <a:p>
            <a:pPr algn="l">
              <a:lnSpc>
                <a:spcPct val="125000"/>
              </a:lnSpc>
            </a:pPr>
            <a:r>
              <a:rPr sz="1800" b="0" i="0">
                <a:solidFill>
                  <a:srgbClr val="151A21"/>
                </a:solidFill>
                <a:latin typeface="Calibri"/>
              </a:rPr>
              <a:t>Die Staatssicherheit setzt Inoffizielle Mitarbeiter bis in kirchliche Leitungsämter ein.</a:t>
            </a:r>
          </a:p>
        </p:txBody>
      </p:sp>
      <p:sp>
        <p:nvSpPr>
          <p:cNvPr id="19" name="TextBox 18"/>
          <p:cNvSpPr txBox="1"/>
          <p:nvPr/>
        </p:nvSpPr>
        <p:spPr>
          <a:xfrm>
            <a:off x="777240" y="6172200"/>
            <a:ext cx="10637215" cy="457200"/>
          </a:xfrm>
          <a:prstGeom prst="rect">
            <a:avLst/>
          </a:prstGeom>
          <a:noFill/>
        </p:spPr>
        <p:txBody>
          <a:bodyPr wrap="square" anchor="t">
            <a:spAutoFit/>
          </a:bodyPr>
          <a:lstStyle/>
          <a:p>
            <a:pPr algn="l">
              <a:lnSpc>
                <a:spcPct val="125000"/>
              </a:lnSpc>
            </a:pPr>
            <a:r>
              <a:rPr sz="1400" b="0" i="0">
                <a:solidFill>
                  <a:srgbClr val="78828F"/>
                </a:solidFill>
                <a:latin typeface="Consolas"/>
              </a:rPr>
              <a:t>Zwei belegte Zahlen ergänzen: Anteil Jugendweihe in den 1980ern · Kirchenmitgliedschaft in der DDR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E5EC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1E3A5F"/>
                </a:solidFill>
                <a:latin typeface="Consolas"/>
              </a:rPr>
              <a:t>ARBEITSAUFTRAG 5.2</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Redaktionsteams · 30 min</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Wir bauen eine Ausstellung</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1600" b="0" i="0">
                <a:solidFill>
                  <a:srgbClr val="151A21"/>
                </a:solidFill>
                <a:latin typeface="Calibri"/>
              </a:rPr>
              <a:t>1.  Eine Überschrift, die neugierig macht und nichts verrät.</a:t>
            </a:r>
          </a:p>
          <a:p>
            <a:pPr algn="l">
              <a:lnSpc>
                <a:spcPct val="142000"/>
              </a:lnSpc>
            </a:pPr>
            <a:r>
              <a:rPr sz="1600" b="0" i="0">
                <a:solidFill>
                  <a:srgbClr val="151A21"/>
                </a:solidFill>
                <a:latin typeface="Calibri"/>
              </a:rPr>
              <a:t>2.  Eine Jahreszahl oder Zeitspanne, groß.</a:t>
            </a:r>
          </a:p>
          <a:p>
            <a:pPr algn="l">
              <a:lnSpc>
                <a:spcPct val="142000"/>
              </a:lnSpc>
            </a:pPr>
            <a:r>
              <a:rPr sz="1600" b="0" i="0">
                <a:solidFill>
                  <a:srgbClr val="151A21"/>
                </a:solidFill>
                <a:latin typeface="Calibri"/>
              </a:rPr>
              <a:t>3.  Fünf Sätze, die erklären, was passiert ist. Nicht sechs.</a:t>
            </a:r>
          </a:p>
          <a:p>
            <a:pPr algn="l">
              <a:lnSpc>
                <a:spcPct val="142000"/>
              </a:lnSpc>
            </a:pPr>
            <a:r>
              <a:rPr sz="1600" b="0" i="0">
                <a:solidFill>
                  <a:srgbClr val="151A21"/>
                </a:solidFill>
                <a:latin typeface="Calibri"/>
              </a:rPr>
              <a:t>4.  Ein Originalzitat eines beteiligten Menschen, mit Namen.</a:t>
            </a:r>
          </a:p>
          <a:p>
            <a:pPr algn="l">
              <a:lnSpc>
                <a:spcPct val="142000"/>
              </a:lnSpc>
            </a:pPr>
            <a:r>
              <a:rPr sz="1600" b="0" i="0">
                <a:solidFill>
                  <a:srgbClr val="151A21"/>
                </a:solidFill>
                <a:latin typeface="Calibri"/>
              </a:rPr>
              <a:t>5.  Eine Bildidee: Welches Foto müsste hier hängen — und wo habt ihr es gefunden?</a:t>
            </a:r>
          </a:p>
          <a:p>
            <a:pPr algn="l">
              <a:lnSpc>
                <a:spcPct val="142000"/>
              </a:lnSpc>
            </a:pPr>
            <a:r>
              <a:rPr sz="1600" b="0" i="0">
                <a:solidFill>
                  <a:srgbClr val="151A21"/>
                </a:solidFill>
                <a:latin typeface="Calibri"/>
              </a:rPr>
              <a:t>6.  Eine offene Frage am unteren Rand, auf die ihr selbst keine sichere Antwort habt.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2EDEA"/>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MUSEUMSRUNDGANG · 7 MIN</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3200" b="0" i="0">
                <a:solidFill>
                  <a:srgbClr val="151A21"/>
                </a:solidFill>
                <a:latin typeface="Georgia"/>
              </a:rPr>
              <a:t>Ihr geht schweigend durch die Ausstellung — wie in einem echten Museum.</a:t>
            </a:r>
          </a:p>
          <a:p>
            <a:pPr algn="l">
              <a:lnSpc>
                <a:spcPct val="132000"/>
              </a:lnSpc>
            </a:pPr>
            <a:r>
              <a:rPr sz="3200" b="0" i="0">
                <a:solidFill>
                  <a:srgbClr val="151A21"/>
                </a:solidFill>
                <a:latin typeface="Georgia"/>
              </a:rPr>
              <a:t/>
            </a:r>
          </a:p>
          <a:p>
            <a:pPr algn="l">
              <a:lnSpc>
                <a:spcPct val="132000"/>
              </a:lnSpc>
            </a:pPr>
            <a:r>
              <a:rPr sz="3200" b="0" i="0">
                <a:solidFill>
                  <a:srgbClr val="151A21"/>
                </a:solidFill>
                <a:latin typeface="Georgia"/>
              </a:rPr>
              <a:t>Drei Klebepunkte, und die kommen auf die offenen Fragen, die euch am meisten beschäftigen.</a:t>
            </a:r>
          </a:p>
          <a:p>
            <a:pPr algn="l">
              <a:lnSpc>
                <a:spcPct val="132000"/>
              </a:lnSpc>
            </a:pPr>
            <a:r>
              <a:rPr sz="3200" b="0" i="0">
                <a:solidFill>
                  <a:srgbClr val="151A21"/>
                </a:solidFill>
                <a:latin typeface="Georgia"/>
              </a:rPr>
              <a:t/>
            </a:r>
          </a:p>
          <a:p>
            <a:pPr algn="l">
              <a:lnSpc>
                <a:spcPct val="132000"/>
              </a:lnSpc>
            </a:pPr>
            <a:r>
              <a:rPr sz="3200" b="0" i="0">
                <a:solidFill>
                  <a:srgbClr val="151A21"/>
                </a:solidFill>
                <a:latin typeface="Georgia"/>
              </a:rPr>
              <a:t>Nicht auf die schönste Tafel. Auf die beste Frage.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1148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M22 · PARTNERARBEIT</a:t>
            </a:r>
          </a:p>
        </p:txBody>
      </p:sp>
      <p:sp>
        <p:nvSpPr>
          <p:cNvPr id="3" name="TextBox 2"/>
          <p:cNvSpPr txBox="1"/>
          <p:nvPr/>
        </p:nvSpPr>
        <p:spPr>
          <a:xfrm>
            <a:off x="777240" y="868680"/>
            <a:ext cx="10637215" cy="731520"/>
          </a:xfrm>
          <a:prstGeom prst="rect">
            <a:avLst/>
          </a:prstGeom>
          <a:noFill/>
        </p:spPr>
        <p:txBody>
          <a:bodyPr wrap="square" anchor="t">
            <a:spAutoFit/>
          </a:bodyPr>
          <a:lstStyle/>
          <a:p>
            <a:pPr algn="l">
              <a:lnSpc>
                <a:spcPct val="125000"/>
              </a:lnSpc>
            </a:pPr>
            <a:r>
              <a:rPr sz="3400" b="1" i="0">
                <a:solidFill>
                  <a:srgbClr val="151A21"/>
                </a:solidFill>
                <a:latin typeface="Georgia"/>
              </a:rPr>
              <a:t>Zwei Diktaturen, eine Kirche</a:t>
            </a:r>
          </a:p>
        </p:txBody>
      </p:sp>
      <p:graphicFrame>
        <p:nvGraphicFramePr>
          <p:cNvPr id="4" name="Table 3"/>
          <p:cNvGraphicFramePr>
            <a:graphicFrameLocks noGrp="1"/>
          </p:cNvGraphicFramePr>
          <p:nvPr/>
        </p:nvGraphicFramePr>
        <p:xfrm>
          <a:off x="777240" y="1783080"/>
          <a:ext cx="10637214" cy="4206240"/>
        </p:xfrm>
        <a:graphic>
          <a:graphicData uri="http://schemas.openxmlformats.org/drawingml/2006/table">
            <a:tbl>
              <a:tblPr firstRow="1" bandRow="1">
                <a:tableStyleId>{5C22544A-7EE6-4342-B048-85BDC9FD1C3A}</a:tableStyleId>
              </a:tblPr>
              <a:tblGrid>
                <a:gridCol w="4558806"/>
                <a:gridCol w="3039204"/>
                <a:gridCol w="3039204"/>
              </a:tblGrid>
              <a:tr h="701040">
                <a:tc>
                  <a:txBody>
                    <a:bodyPr/>
                    <a:lstStyle/>
                    <a:p>
                      <a:r>
                        <a:rPr sz="1300" b="1">
                          <a:solidFill>
                            <a:srgbClr val="FFFFFF"/>
                          </a:solidFill>
                          <a:latin typeface="Consolas"/>
                        </a:rPr>
                        <a:t>Frage</a:t>
                      </a:r>
                    </a:p>
                  </a:txBody>
                  <a:tcPr>
                    <a:solidFill>
                      <a:srgbClr val="1E3A5F"/>
                    </a:solidFill>
                  </a:tcPr>
                </a:tc>
                <a:tc>
                  <a:txBody>
                    <a:bodyPr/>
                    <a:lstStyle/>
                    <a:p>
                      <a:r>
                        <a:rPr sz="1300" b="1">
                          <a:solidFill>
                            <a:srgbClr val="FFFFFF"/>
                          </a:solidFill>
                          <a:latin typeface="Consolas"/>
                        </a:rPr>
                        <a:t>Nationalsozialismus</a:t>
                      </a:r>
                    </a:p>
                  </a:txBody>
                  <a:tcPr>
                    <a:solidFill>
                      <a:srgbClr val="1E3A5F"/>
                    </a:solidFill>
                  </a:tcPr>
                </a:tc>
                <a:tc>
                  <a:txBody>
                    <a:bodyPr/>
                    <a:lstStyle/>
                    <a:p>
                      <a:r>
                        <a:rPr sz="1300" b="1">
                          <a:solidFill>
                            <a:srgbClr val="FFFFFF"/>
                          </a:solidFill>
                          <a:latin typeface="Consolas"/>
                        </a:rPr>
                        <a:t>DDR</a:t>
                      </a:r>
                    </a:p>
                  </a:txBody>
                  <a:tcPr>
                    <a:solidFill>
                      <a:srgbClr val="1E3A5F"/>
                    </a:solidFill>
                  </a:tcPr>
                </a:tc>
              </a:tr>
              <a:tr h="701040">
                <a:tc>
                  <a:txBody>
                    <a:bodyPr/>
                    <a:lstStyle/>
                    <a:p>
                      <a:r>
                        <a:rPr sz="1400" b="1">
                          <a:solidFill>
                            <a:srgbClr val="151A21"/>
                          </a:solidFill>
                          <a:latin typeface="Consolas"/>
                        </a:rPr>
                        <a:t>Was wollte der Staat von der Kirche?</a:t>
                      </a:r>
                    </a:p>
                  </a:txBody>
                  <a:tcPr>
                    <a:solidFill>
                      <a:srgbClr val="FFFFFF"/>
                    </a:solidFill>
                  </a:tcPr>
                </a:tc>
                <a:tc>
                  <a:txBody>
                    <a:bodyPr/>
                    <a:lstStyle/>
                    <a:p/>
                  </a:txBody>
                  <a:tcPr>
                    <a:solidFill>
                      <a:srgbClr val="FFFFFF"/>
                    </a:solidFill>
                  </a:tcPr>
                </a:tc>
                <a:tc>
                  <a:txBody>
                    <a:bodyPr/>
                    <a:lstStyle/>
                    <a:p/>
                  </a:txBody>
                  <a:tcPr>
                    <a:solidFill>
                      <a:srgbClr val="FFFFFF"/>
                    </a:solidFill>
                  </a:tcPr>
                </a:tc>
              </a:tr>
              <a:tr h="701040">
                <a:tc>
                  <a:txBody>
                    <a:bodyPr/>
                    <a:lstStyle/>
                    <a:p>
                      <a:r>
                        <a:rPr sz="1400" b="1">
                          <a:solidFill>
                            <a:srgbClr val="151A21"/>
                          </a:solidFill>
                          <a:latin typeface="Consolas"/>
                        </a:rPr>
                        <a:t>Wie groß war ihr Freiraum?</a:t>
                      </a:r>
                    </a:p>
                  </a:txBody>
                  <a:tcPr>
                    <a:solidFill>
                      <a:srgbClr val="F3F5F7"/>
                    </a:solidFill>
                  </a:tcPr>
                </a:tc>
                <a:tc>
                  <a:txBody>
                    <a:bodyPr/>
                    <a:lstStyle/>
                    <a:p/>
                  </a:txBody>
                  <a:tcPr>
                    <a:solidFill>
                      <a:srgbClr val="F3F5F7"/>
                    </a:solidFill>
                  </a:tcPr>
                </a:tc>
                <a:tc>
                  <a:txBody>
                    <a:bodyPr/>
                    <a:lstStyle/>
                    <a:p/>
                  </a:txBody>
                  <a:tcPr>
                    <a:solidFill>
                      <a:srgbClr val="F3F5F7"/>
                    </a:solidFill>
                  </a:tcPr>
                </a:tc>
              </a:tr>
              <a:tr h="701040">
                <a:tc>
                  <a:txBody>
                    <a:bodyPr/>
                    <a:lstStyle/>
                    <a:p>
                      <a:r>
                        <a:rPr sz="1400" b="1">
                          <a:solidFill>
                            <a:srgbClr val="151A21"/>
                          </a:solidFill>
                          <a:latin typeface="Consolas"/>
                        </a:rPr>
                        <a:t>Woran orientierten sich die, die widersprachen?</a:t>
                      </a:r>
                    </a:p>
                  </a:txBody>
                  <a:tcPr>
                    <a:solidFill>
                      <a:srgbClr val="FFFFFF"/>
                    </a:solidFill>
                  </a:tcPr>
                </a:tc>
                <a:tc>
                  <a:txBody>
                    <a:bodyPr/>
                    <a:lstStyle/>
                    <a:p/>
                  </a:txBody>
                  <a:tcPr>
                    <a:solidFill>
                      <a:srgbClr val="FFFFFF"/>
                    </a:solidFill>
                  </a:tcPr>
                </a:tc>
                <a:tc>
                  <a:txBody>
                    <a:bodyPr/>
                    <a:lstStyle/>
                    <a:p/>
                  </a:txBody>
                  <a:tcPr>
                    <a:solidFill>
                      <a:srgbClr val="FFFFFF"/>
                    </a:solidFill>
                  </a:tcPr>
                </a:tc>
              </a:tr>
              <a:tr h="701040">
                <a:tc>
                  <a:txBody>
                    <a:bodyPr/>
                    <a:lstStyle/>
                    <a:p>
                      <a:r>
                        <a:rPr sz="1400" b="1">
                          <a:solidFill>
                            <a:srgbClr val="151A21"/>
                          </a:solidFill>
                          <a:latin typeface="Consolas"/>
                        </a:rPr>
                        <a:t>Welchen Preis zahlte, wer widersprach?</a:t>
                      </a:r>
                    </a:p>
                  </a:txBody>
                  <a:tcPr>
                    <a:solidFill>
                      <a:srgbClr val="F3F5F7"/>
                    </a:solidFill>
                  </a:tcPr>
                </a:tc>
                <a:tc>
                  <a:txBody>
                    <a:bodyPr/>
                    <a:lstStyle/>
                    <a:p/>
                  </a:txBody>
                  <a:tcPr>
                    <a:solidFill>
                      <a:srgbClr val="F3F5F7"/>
                    </a:solidFill>
                  </a:tcPr>
                </a:tc>
                <a:tc>
                  <a:txBody>
                    <a:bodyPr/>
                    <a:lstStyle/>
                    <a:p/>
                  </a:txBody>
                  <a:tcPr>
                    <a:solidFill>
                      <a:srgbClr val="F3F5F7"/>
                    </a:solidFill>
                  </a:tcPr>
                </a:tc>
              </a:tr>
              <a:tr h="701040">
                <a:tc>
                  <a:txBody>
                    <a:bodyPr/>
                    <a:lstStyle/>
                    <a:p>
                      <a:r>
                        <a:rPr sz="1400" b="1">
                          <a:solidFill>
                            <a:srgbClr val="151A21"/>
                          </a:solidFill>
                          <a:latin typeface="Consolas"/>
                        </a:rPr>
                        <a:t>Was hatte die Kirche 1989, was ihr 1933 fehlte?</a:t>
                      </a:r>
                    </a:p>
                  </a:txBody>
                  <a:tcPr>
                    <a:solidFill>
                      <a:srgbClr val="FFFFFF"/>
                    </a:solidFill>
                  </a:tcPr>
                </a:tc>
                <a:tc>
                  <a:txBody>
                    <a:bodyPr/>
                    <a:lstStyle/>
                    <a:p/>
                  </a:txBody>
                  <a:tcPr>
                    <a:solidFill>
                      <a:srgbClr val="FFFFFF"/>
                    </a:solidFill>
                  </a:tcPr>
                </a:tc>
                <a:tc>
                  <a:txBody>
                    <a:bodyPr/>
                    <a:lstStyle/>
                    <a:p/>
                  </a:txBody>
                  <a:tcPr>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777240" y="2103120"/>
            <a:ext cx="10058400" cy="457200"/>
          </a:xfrm>
          <a:prstGeom prst="rect">
            <a:avLst/>
          </a:prstGeom>
          <a:noFill/>
        </p:spPr>
        <p:txBody>
          <a:bodyPr wrap="square" anchor="t">
            <a:spAutoFit/>
          </a:bodyPr>
          <a:lstStyle/>
          <a:p>
            <a:pPr algn="l">
              <a:lnSpc>
                <a:spcPct val="125000"/>
              </a:lnSpc>
            </a:pPr>
            <a:r>
              <a:rPr sz="1500" b="0" i="0" spc="240">
                <a:solidFill>
                  <a:srgbClr val="9FBAD8"/>
                </a:solidFill>
                <a:latin typeface="Consolas"/>
              </a:rPr>
              <a:t>DOPPELSTUNDE 6</a:t>
            </a:r>
          </a:p>
        </p:txBody>
      </p:sp>
      <p:sp>
        <p:nvSpPr>
          <p:cNvPr id="3" name="TextBox 2"/>
          <p:cNvSpPr txBox="1"/>
          <p:nvPr/>
        </p:nvSpPr>
        <p:spPr>
          <a:xfrm>
            <a:off x="777240" y="2651760"/>
            <a:ext cx="10241280" cy="1463040"/>
          </a:xfrm>
          <a:prstGeom prst="rect">
            <a:avLst/>
          </a:prstGeom>
          <a:noFill/>
        </p:spPr>
        <p:txBody>
          <a:bodyPr wrap="square" anchor="t">
            <a:spAutoFit/>
          </a:bodyPr>
          <a:lstStyle/>
          <a:p>
            <a:pPr algn="l">
              <a:lnSpc>
                <a:spcPct val="105000"/>
              </a:lnSpc>
            </a:pPr>
            <a:r>
              <a:rPr sz="5400" b="1" i="0">
                <a:solidFill>
                  <a:srgbClr val="FFFFFF"/>
                </a:solidFill>
                <a:latin typeface="Georgia"/>
              </a:rPr>
              <a:t>Barmen 2026?</a:t>
            </a:r>
          </a:p>
        </p:txBody>
      </p:sp>
      <p:sp>
        <p:nvSpPr>
          <p:cNvPr id="4" name="TextBox 3"/>
          <p:cNvSpPr txBox="1"/>
          <p:nvPr/>
        </p:nvSpPr>
        <p:spPr>
          <a:xfrm>
            <a:off x="777240" y="4206240"/>
            <a:ext cx="8778240" cy="1097280"/>
          </a:xfrm>
          <a:prstGeom prst="rect">
            <a:avLst/>
          </a:prstGeom>
          <a:noFill/>
        </p:spPr>
        <p:txBody>
          <a:bodyPr wrap="square" anchor="t">
            <a:spAutoFit/>
          </a:bodyPr>
          <a:lstStyle/>
          <a:p>
            <a:pPr algn="l">
              <a:lnSpc>
                <a:spcPct val="125000"/>
              </a:lnSpc>
            </a:pPr>
            <a:r>
              <a:rPr sz="2100" b="0" i="1">
                <a:solidFill>
                  <a:srgbClr val="C8D8EA"/>
                </a:solidFill>
                <a:latin typeface="Georgia"/>
              </a:rPr>
              <a:t>Die Kirchen und das Erstarken der AfD — und die Frage, wo für Christen heute die Grenze verläuft.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E7E5"/>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EINSTIEG · PLAKAT AN DER WAND</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4000" b="0" i="0">
                <a:solidFill>
                  <a:srgbClr val="151A21"/>
                </a:solidFill>
                <a:latin typeface="Georgia"/>
              </a:rPr>
              <a:t>„Die Kirche soll sich aus der Politik raushalten.“</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Klebt einen Punkt auf die Linie — bevor wir anfangen.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77240" y="41148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M23 · DREI SCHLAGZEILEN</a:t>
            </a:r>
          </a:p>
        </p:txBody>
      </p:sp>
      <p:sp>
        <p:nvSpPr>
          <p:cNvPr id="3" name="TextBox 2"/>
          <p:cNvSpPr txBox="1"/>
          <p:nvPr/>
        </p:nvSpPr>
        <p:spPr>
          <a:xfrm>
            <a:off x="777240" y="914400"/>
            <a:ext cx="10637215" cy="822960"/>
          </a:xfrm>
          <a:prstGeom prst="rect">
            <a:avLst/>
          </a:prstGeom>
          <a:noFill/>
        </p:spPr>
        <p:txBody>
          <a:bodyPr wrap="square" anchor="t">
            <a:spAutoFit/>
          </a:bodyPr>
          <a:lstStyle/>
          <a:p>
            <a:pPr algn="l">
              <a:lnSpc>
                <a:spcPct val="125000"/>
              </a:lnSpc>
            </a:pPr>
            <a:r>
              <a:rPr sz="3800" b="1" i="0">
                <a:solidFill>
                  <a:srgbClr val="151A21"/>
                </a:solidFill>
                <a:latin typeface="Georgia"/>
              </a:rPr>
              <a:t>Was die Kirchen gesagt haben</a:t>
            </a:r>
          </a:p>
        </p:txBody>
      </p:sp>
      <p:sp>
        <p:nvSpPr>
          <p:cNvPr id="4" name="Rectangle 3"/>
          <p:cNvSpPr/>
          <p:nvPr/>
        </p:nvSpPr>
        <p:spPr>
          <a:xfrm>
            <a:off x="777240" y="1975104"/>
            <a:ext cx="45720" cy="11277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33272" y="1920240"/>
            <a:ext cx="3108960" cy="1402080"/>
          </a:xfrm>
          <a:prstGeom prst="rect">
            <a:avLst/>
          </a:prstGeom>
          <a:noFill/>
        </p:spPr>
        <p:txBody>
          <a:bodyPr wrap="square" anchor="t">
            <a:spAutoFit/>
          </a:bodyPr>
          <a:lstStyle/>
          <a:p>
            <a:pPr algn="l">
              <a:lnSpc>
                <a:spcPct val="125000"/>
              </a:lnSpc>
            </a:pPr>
            <a:r>
              <a:rPr sz="1900" b="1" i="0">
                <a:solidFill>
                  <a:srgbClr val="1E3A5F"/>
                </a:solidFill>
                <a:latin typeface="Georgia"/>
              </a:rPr>
              <a:t>Herbst 2023</a:t>
            </a:r>
          </a:p>
        </p:txBody>
      </p:sp>
      <p:sp>
        <p:nvSpPr>
          <p:cNvPr id="6" name="TextBox 5"/>
          <p:cNvSpPr txBox="1"/>
          <p:nvPr/>
        </p:nvSpPr>
        <p:spPr>
          <a:xfrm>
            <a:off x="4251960" y="1920240"/>
            <a:ext cx="7162495" cy="1402080"/>
          </a:xfrm>
          <a:prstGeom prst="rect">
            <a:avLst/>
          </a:prstGeom>
          <a:noFill/>
        </p:spPr>
        <p:txBody>
          <a:bodyPr wrap="square" anchor="t">
            <a:spAutoFit/>
          </a:bodyPr>
          <a:lstStyle/>
          <a:p>
            <a:pPr algn="l">
              <a:lnSpc>
                <a:spcPct val="125000"/>
              </a:lnSpc>
            </a:pPr>
            <a:r>
              <a:rPr sz="1800" b="0" i="0">
                <a:solidFill>
                  <a:srgbClr val="151A21"/>
                </a:solidFill>
                <a:latin typeface="Calibri"/>
              </a:rPr>
              <a:t>Die Synode der EKD stellt fest, die menschenverachtenden Haltungen und Äußerungen insbesondere der rechtsextremen Kräfte innerhalb der AfD seien mit den Grundsätzen des christlichen Glaubens in keiner Weise vereinbar.</a:t>
            </a:r>
          </a:p>
        </p:txBody>
      </p:sp>
      <p:sp>
        <p:nvSpPr>
          <p:cNvPr id="7" name="Rectangle 6"/>
          <p:cNvSpPr/>
          <p:nvPr/>
        </p:nvSpPr>
        <p:spPr>
          <a:xfrm>
            <a:off x="777240" y="3377184"/>
            <a:ext cx="45720" cy="11277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322320"/>
            <a:ext cx="3108960" cy="1402080"/>
          </a:xfrm>
          <a:prstGeom prst="rect">
            <a:avLst/>
          </a:prstGeom>
          <a:noFill/>
        </p:spPr>
        <p:txBody>
          <a:bodyPr wrap="square" anchor="t">
            <a:spAutoFit/>
          </a:bodyPr>
          <a:lstStyle/>
          <a:p>
            <a:pPr algn="l">
              <a:lnSpc>
                <a:spcPct val="125000"/>
              </a:lnSpc>
            </a:pPr>
            <a:r>
              <a:rPr sz="1900" b="1" i="0">
                <a:solidFill>
                  <a:srgbClr val="1E3A5F"/>
                </a:solidFill>
                <a:latin typeface="Georgia"/>
              </a:rPr>
              <a:t>22. Feb. 2024</a:t>
            </a:r>
          </a:p>
        </p:txBody>
      </p:sp>
      <p:sp>
        <p:nvSpPr>
          <p:cNvPr id="9" name="TextBox 8"/>
          <p:cNvSpPr txBox="1"/>
          <p:nvPr/>
        </p:nvSpPr>
        <p:spPr>
          <a:xfrm>
            <a:off x="4251960" y="3322320"/>
            <a:ext cx="7162495" cy="1402080"/>
          </a:xfrm>
          <a:prstGeom prst="rect">
            <a:avLst/>
          </a:prstGeom>
          <a:noFill/>
        </p:spPr>
        <p:txBody>
          <a:bodyPr wrap="square" anchor="t">
            <a:spAutoFit/>
          </a:bodyPr>
          <a:lstStyle/>
          <a:p>
            <a:pPr algn="l">
              <a:lnSpc>
                <a:spcPct val="125000"/>
              </a:lnSpc>
            </a:pPr>
            <a:r>
              <a:rPr sz="1800" b="0" i="0">
                <a:solidFill>
                  <a:srgbClr val="151A21"/>
                </a:solidFill>
                <a:latin typeface="Calibri"/>
              </a:rPr>
              <a:t>Die Deutsche Bischofskonferenz erklärt völkischen Nationalismus und Christentum für unvereinbar. Die EKD begrüßt die Erklärung ausdrücklich.</a:t>
            </a:r>
          </a:p>
        </p:txBody>
      </p:sp>
      <p:sp>
        <p:nvSpPr>
          <p:cNvPr id="10" name="Rectangle 9"/>
          <p:cNvSpPr/>
          <p:nvPr/>
        </p:nvSpPr>
        <p:spPr>
          <a:xfrm>
            <a:off x="777240" y="4779264"/>
            <a:ext cx="45720" cy="11277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33272" y="4724400"/>
            <a:ext cx="3108960" cy="1402080"/>
          </a:xfrm>
          <a:prstGeom prst="rect">
            <a:avLst/>
          </a:prstGeom>
          <a:noFill/>
        </p:spPr>
        <p:txBody>
          <a:bodyPr wrap="square" anchor="t">
            <a:spAutoFit/>
          </a:bodyPr>
          <a:lstStyle/>
          <a:p>
            <a:pPr algn="l">
              <a:lnSpc>
                <a:spcPct val="125000"/>
              </a:lnSpc>
            </a:pPr>
            <a:r>
              <a:rPr sz="1900" b="1" i="0">
                <a:solidFill>
                  <a:srgbClr val="1E3A5F"/>
                </a:solidFill>
                <a:latin typeface="Georgia"/>
              </a:rPr>
              <a:t>Mai 2025</a:t>
            </a:r>
          </a:p>
        </p:txBody>
      </p:sp>
      <p:sp>
        <p:nvSpPr>
          <p:cNvPr id="12" name="TextBox 11"/>
          <p:cNvSpPr txBox="1"/>
          <p:nvPr/>
        </p:nvSpPr>
        <p:spPr>
          <a:xfrm>
            <a:off x="4251960" y="4724400"/>
            <a:ext cx="7162495" cy="1402080"/>
          </a:xfrm>
          <a:prstGeom prst="rect">
            <a:avLst/>
          </a:prstGeom>
          <a:noFill/>
        </p:spPr>
        <p:txBody>
          <a:bodyPr wrap="square" anchor="t">
            <a:spAutoFit/>
          </a:bodyPr>
          <a:lstStyle/>
          <a:p>
            <a:pPr algn="l">
              <a:lnSpc>
                <a:spcPct val="125000"/>
              </a:lnSpc>
            </a:pPr>
            <a:r>
              <a:rPr sz="1800" b="0" i="0">
                <a:solidFill>
                  <a:srgbClr val="151A21"/>
                </a:solidFill>
                <a:latin typeface="Calibri"/>
              </a:rPr>
              <a:t>Das Bundesamt für Verfassungsschutz stuft die AfD als gesichert rechtsextremistisch ein. Gegen die Einstufung läuft ein Gerichtsverfahren.</a:t>
            </a:r>
          </a:p>
        </p:txBody>
      </p:sp>
      <p:sp>
        <p:nvSpPr>
          <p:cNvPr id="13" name="TextBox 12"/>
          <p:cNvSpPr txBox="1"/>
          <p:nvPr/>
        </p:nvSpPr>
        <p:spPr>
          <a:xfrm>
            <a:off x="777240" y="6172200"/>
            <a:ext cx="10637215" cy="457200"/>
          </a:xfrm>
          <a:prstGeom prst="rect">
            <a:avLst/>
          </a:prstGeom>
          <a:noFill/>
        </p:spPr>
        <p:txBody>
          <a:bodyPr wrap="square" anchor="t">
            <a:spAutoFit/>
          </a:bodyPr>
          <a:lstStyle/>
          <a:p>
            <a:pPr algn="l">
              <a:lnSpc>
                <a:spcPct val="125000"/>
              </a:lnSpc>
            </a:pPr>
            <a:r>
              <a:rPr sz="1400" b="0" i="0">
                <a:solidFill>
                  <a:srgbClr val="78828F"/>
                </a:solidFill>
                <a:latin typeface="Consolas"/>
              </a:rPr>
              <a:t>SACHSTAND GEPRÜFT AM: ______________________</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E5EC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1E3A5F"/>
                </a:solidFill>
                <a:latin typeface="Consolas"/>
              </a:rPr>
              <a:t>ARBEITSAUFTRAG 6.2</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Gruppenarbeit · 20 min</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Vier Stimmen</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1600" b="0" i="0">
                <a:solidFill>
                  <a:srgbClr val="151A21"/>
                </a:solidFill>
                <a:latin typeface="Calibri"/>
              </a:rPr>
              <a:t>1.  Fasst die Position eures Textes in EINEM Satz zusammen, der mit „Wir sagen: …“ beginnt.</a:t>
            </a:r>
          </a:p>
          <a:p>
            <a:pPr algn="l">
              <a:lnSpc>
                <a:spcPct val="142000"/>
              </a:lnSpc>
            </a:pPr>
            <a:r>
              <a:rPr sz="1600" b="0" i="0">
                <a:solidFill>
                  <a:srgbClr val="151A21"/>
                </a:solidFill>
                <a:latin typeface="Calibri"/>
              </a:rPr>
              <a:t>2.  Sucht die stärkste Stelle — die Formulierung, mit der ihr jemanden überzeugen könntet, der anderer Meinung ist.</a:t>
            </a:r>
          </a:p>
          <a:p>
            <a:pPr algn="l">
              <a:lnSpc>
                <a:spcPct val="142000"/>
              </a:lnSpc>
            </a:pPr>
            <a:r>
              <a:rPr sz="1600" b="0" i="0">
                <a:solidFill>
                  <a:srgbClr val="151A21"/>
                </a:solidFill>
                <a:latin typeface="Calibri"/>
              </a:rPr>
              <a:t>3.  Sucht die schwächste Stelle. Wo ist euer eigener Text angreifbar? Diese Aufgabe ist Pflicht.</a:t>
            </a:r>
          </a:p>
          <a:p>
            <a:pPr algn="l">
              <a:lnSpc>
                <a:spcPct val="142000"/>
              </a:lnSpc>
            </a:pPr>
            <a:r>
              <a:rPr sz="1600" b="0" i="0">
                <a:solidFill>
                  <a:srgbClr val="151A21"/>
                </a:solidFill>
                <a:latin typeface="Calibri"/>
              </a:rPr>
              <a:t>4.  Prüft eine Tatsachenbehauptung mit dem Handy nach — auf der Originalseite der Institution, nicht in einer Zusammenfassung.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E5ECF4"/>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DIE FRAGE, AN DER DIE EINHEIT ZUSAMMENLÄUFT</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3200" b="0" i="0">
                <a:solidFill>
                  <a:srgbClr val="151A21"/>
                </a:solidFill>
                <a:latin typeface="Georgia"/>
              </a:rPr>
              <a:t>Genau das war 1933 die Mehrheitsmeinung in dieser Kirche. Römer 13, ihr erinnert euch.</a:t>
            </a:r>
          </a:p>
          <a:p>
            <a:pPr algn="l">
              <a:lnSpc>
                <a:spcPct val="132000"/>
              </a:lnSpc>
            </a:pPr>
            <a:r>
              <a:rPr sz="3200" b="0" i="0">
                <a:solidFill>
                  <a:srgbClr val="151A21"/>
                </a:solidFill>
                <a:latin typeface="Georgia"/>
              </a:rPr>
              <a:t/>
            </a:r>
          </a:p>
          <a:p>
            <a:pPr algn="l">
              <a:lnSpc>
                <a:spcPct val="132000"/>
              </a:lnSpc>
            </a:pPr>
            <a:r>
              <a:rPr sz="3200" b="0" i="0">
                <a:solidFill>
                  <a:srgbClr val="151A21"/>
                </a:solidFill>
                <a:latin typeface="Georgia"/>
              </a:rPr>
              <a:t>Und 1934 hat eine Minderheit gesagt: Es gibt eine Grenze.</a:t>
            </a:r>
          </a:p>
          <a:p>
            <a:pPr algn="l">
              <a:lnSpc>
                <a:spcPct val="132000"/>
              </a:lnSpc>
            </a:pPr>
            <a:r>
              <a:rPr sz="3200" b="0" i="0">
                <a:solidFill>
                  <a:srgbClr val="151A21"/>
                </a:solidFill>
                <a:latin typeface="Georgia"/>
              </a:rPr>
              <a:t/>
            </a:r>
          </a:p>
          <a:p>
            <a:pPr algn="l">
              <a:lnSpc>
                <a:spcPct val="132000"/>
              </a:lnSpc>
            </a:pPr>
            <a:r>
              <a:rPr sz="3200" b="0" i="0">
                <a:solidFill>
                  <a:srgbClr val="151A21"/>
                </a:solidFill>
                <a:latin typeface="Georgia"/>
              </a:rPr>
              <a:t>Wo verläuft die eurer Meinung nach?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E5EC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1E3A5F"/>
                </a:solidFill>
                <a:latin typeface="Consolas"/>
              </a:rPr>
              <a:t>ARBEITSAUFTRAG 6.3 · KERNSTÜCK</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Gruppenarbeit · 22 min</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Die Barmen-Werkstatt</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1600" b="0" i="0">
                <a:solidFill>
                  <a:srgbClr val="151A21"/>
                </a:solidFill>
                <a:latin typeface="Calibri"/>
              </a:rPr>
              <a:t>1.  Lest die Bibelstellen auf eurer Karte. Wählt EINE aus, die euch am meisten zu sagen hat.</a:t>
            </a:r>
          </a:p>
          <a:p>
            <a:pPr algn="l">
              <a:lnSpc>
                <a:spcPct val="142000"/>
              </a:lnSpc>
            </a:pPr>
            <a:r>
              <a:rPr sz="1600" b="0" i="0">
                <a:solidFill>
                  <a:srgbClr val="151A21"/>
                </a:solidFill>
                <a:latin typeface="Calibri"/>
              </a:rPr>
              <a:t>2.  Erster Teil eurer These — woran ihr euch bindet:  „Weil …, gilt für uns: …“</a:t>
            </a:r>
          </a:p>
          <a:p>
            <a:pPr algn="l">
              <a:lnSpc>
                <a:spcPct val="142000"/>
              </a:lnSpc>
            </a:pPr>
            <a:r>
              <a:rPr sz="1600" b="0" i="0">
                <a:solidFill>
                  <a:srgbClr val="151A21"/>
                </a:solidFill>
                <a:latin typeface="Calibri"/>
              </a:rPr>
              <a:t>3.  Zweiter Teil — die Verwerfung:  „Wir verwerfen die falsche Lehre, als ob …“</a:t>
            </a:r>
          </a:p>
          <a:p>
            <a:pPr algn="l">
              <a:lnSpc>
                <a:spcPct val="142000"/>
              </a:lnSpc>
            </a:pPr>
            <a:r>
              <a:rPr sz="1600" b="0" i="0">
                <a:solidFill>
                  <a:srgbClr val="151A21"/>
                </a:solidFill>
                <a:latin typeface="Calibri"/>
              </a:rPr>
              <a:t>4.  Macht die Härteprüfung. Beide Fragen müssen mit Ja beantwortbar sein.</a:t>
            </a:r>
          </a:p>
          <a:p>
            <a:pPr algn="l">
              <a:lnSpc>
                <a:spcPct val="142000"/>
              </a:lnSpc>
            </a:pPr>
            <a:r>
              <a:rPr sz="1600" b="0" i="0">
                <a:solidFill>
                  <a:srgbClr val="151A21"/>
                </a:solidFill>
                <a:latin typeface="Calibri"/>
              </a:rPr>
              <a:t>5.  Schreibt die These groß auf das Thesenblatt. Unterschreiben ist freiwillig.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8C2A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F6E7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8C2A24"/>
                </a:solidFill>
                <a:latin typeface="Consolas"/>
              </a:rPr>
              <a:t>BEIDE FRAGEN MÜSSEN MIT JA BEANTWORTBAR SEIN</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beide Fragen: Ja</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Die Härteprüfung</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2100" b="0" i="0">
                <a:solidFill>
                  <a:srgbClr val="151A21"/>
                </a:solidFill>
                <a:latin typeface="Calibri"/>
              </a:rPr>
              <a:t>1.  Steht in eurer These eine AUSSAGE — oder nur ein Vorwurf gegen eine Gruppe?  Eine Verwerfung richtet sich gegen einen Satz, nie gegen Menschen.</a:t>
            </a:r>
          </a:p>
          <a:p>
            <a:pPr algn="l">
              <a:lnSpc>
                <a:spcPct val="142000"/>
              </a:lnSpc>
            </a:pPr>
            <a:r>
              <a:rPr sz="2100" b="0" i="0">
                <a:solidFill>
                  <a:srgbClr val="151A21"/>
                </a:solidFill>
                <a:latin typeface="Calibri"/>
              </a:rPr>
              <a:t>2.  Könnte eure These auch dann noch gelten, wenn morgen eine ganz andere Partei regiert?  Wenn nein: überarbeiten.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0EBDF"/>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THESENANSCHLAG</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3200" b="0" i="0">
                <a:solidFill>
                  <a:srgbClr val="151A21"/>
                </a:solidFill>
                <a:latin typeface="Georgia"/>
              </a:rPr>
              <a:t>Ein Theologieprofessor hat vor gut fünfhundert Jahren seine Thesen an eine Kirchentür geschlagen, weil er wollte, dass darüber gestritten wird — nicht, weil er sicher war, recht zu haben.</a:t>
            </a:r>
          </a:p>
          <a:p>
            <a:pPr algn="l">
              <a:lnSpc>
                <a:spcPct val="132000"/>
              </a:lnSpc>
            </a:pPr>
            <a:r>
              <a:rPr sz="3200" b="0" i="0">
                <a:solidFill>
                  <a:srgbClr val="151A21"/>
                </a:solidFill>
                <a:latin typeface="Georgia"/>
              </a:rPr>
              <a:t/>
            </a:r>
          </a:p>
          <a:p>
            <a:pPr algn="l">
              <a:lnSpc>
                <a:spcPct val="132000"/>
              </a:lnSpc>
            </a:pPr>
            <a:r>
              <a:rPr sz="3200" b="0" i="0">
                <a:solidFill>
                  <a:srgbClr val="151A21"/>
                </a:solidFill>
                <a:latin typeface="Georgia"/>
              </a:rPr>
              <a:t>In diesem Geist hängen wir jetzt auf.</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E5EC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1E3A5F"/>
                </a:solidFill>
                <a:latin typeface="Consolas"/>
              </a:rPr>
              <a:t>ARBEITSAUFTRAG 6.4</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Plenum · 4 min</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Nach dem Anschlag</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2100" b="0" i="0">
                <a:solidFill>
                  <a:srgbClr val="151A21"/>
                </a:solidFill>
                <a:latin typeface="Calibri"/>
              </a:rPr>
              <a:t>1.  Welche der sechs Thesen wäre 1934 am gefährlichsten gewesen?</a:t>
            </a:r>
          </a:p>
          <a:p>
            <a:pPr algn="l">
              <a:lnSpc>
                <a:spcPct val="142000"/>
              </a:lnSpc>
            </a:pPr>
            <a:r>
              <a:rPr sz="2100" b="0" i="0">
                <a:solidFill>
                  <a:srgbClr val="151A21"/>
                </a:solidFill>
                <a:latin typeface="Calibri"/>
              </a:rPr>
              <a:t>2.  Welche ist heute am unbequemsten — und für wen?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Rectangle 1"/>
          <p:cNvSpPr/>
          <p:nvPr/>
        </p:nvSpPr>
        <p:spPr>
          <a:xfrm>
            <a:off x="777240" y="822960"/>
            <a:ext cx="10637215" cy="5212080"/>
          </a:xfrm>
          <a:prstGeom prst="rect">
            <a:avLst/>
          </a:prstGeom>
          <a:solidFill>
            <a:srgbClr val="FFFFFF"/>
          </a:solidFill>
          <a:ln w="19050">
            <a:solidFill>
              <a:srgbClr val="265F5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822960"/>
            <a:ext cx="10637215" cy="658368"/>
          </a:xfrm>
          <a:prstGeom prst="rect">
            <a:avLst/>
          </a:prstGeom>
          <a:solidFill>
            <a:srgbClr val="E2ED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969264"/>
            <a:ext cx="5486400" cy="365760"/>
          </a:xfrm>
          <a:prstGeom prst="rect">
            <a:avLst/>
          </a:prstGeom>
          <a:noFill/>
        </p:spPr>
        <p:txBody>
          <a:bodyPr wrap="square" anchor="t">
            <a:spAutoFit/>
          </a:bodyPr>
          <a:lstStyle/>
          <a:p>
            <a:pPr algn="l">
              <a:lnSpc>
                <a:spcPct val="125000"/>
              </a:lnSpc>
            </a:pPr>
            <a:r>
              <a:rPr sz="1300" b="1" i="0" spc="160">
                <a:solidFill>
                  <a:srgbClr val="265F53"/>
                </a:solidFill>
                <a:latin typeface="Consolas"/>
              </a:rPr>
              <a:t>ARBEITSAUFTRAG 6.5</a:t>
            </a:r>
          </a:p>
        </p:txBody>
      </p:sp>
      <p:sp>
        <p:nvSpPr>
          <p:cNvPr id="5" name="TextBox 4"/>
          <p:cNvSpPr txBox="1"/>
          <p:nvPr/>
        </p:nvSpPr>
        <p:spPr>
          <a:xfrm>
            <a:off x="7482535" y="969264"/>
            <a:ext cx="3657600" cy="365760"/>
          </a:xfrm>
          <a:prstGeom prst="rect">
            <a:avLst/>
          </a:prstGeom>
          <a:noFill/>
        </p:spPr>
        <p:txBody>
          <a:bodyPr wrap="square" anchor="t">
            <a:spAutoFit/>
          </a:bodyPr>
          <a:lstStyle/>
          <a:p>
            <a:pPr algn="r">
              <a:lnSpc>
                <a:spcPct val="125000"/>
              </a:lnSpc>
            </a:pPr>
            <a:r>
              <a:rPr sz="1300" b="0" i="0">
                <a:solidFill>
                  <a:srgbClr val="4B5563"/>
                </a:solidFill>
                <a:latin typeface="Consolas"/>
              </a:rPr>
              <a:t>Partnerarbeit · 10 min</a:t>
            </a:r>
          </a:p>
        </p:txBody>
      </p:sp>
      <p:sp>
        <p:nvSpPr>
          <p:cNvPr id="6" name="TextBox 5"/>
          <p:cNvSpPr txBox="1"/>
          <p:nvPr/>
        </p:nvSpPr>
        <p:spPr>
          <a:xfrm>
            <a:off x="1051560" y="1691640"/>
            <a:ext cx="10088575" cy="731520"/>
          </a:xfrm>
          <a:prstGeom prst="rect">
            <a:avLst/>
          </a:prstGeom>
          <a:noFill/>
        </p:spPr>
        <p:txBody>
          <a:bodyPr wrap="square" anchor="t">
            <a:spAutoFit/>
          </a:bodyPr>
          <a:lstStyle/>
          <a:p>
            <a:pPr algn="l">
              <a:lnSpc>
                <a:spcPct val="125000"/>
              </a:lnSpc>
            </a:pPr>
            <a:r>
              <a:rPr sz="2800" b="1" i="0">
                <a:solidFill>
                  <a:srgbClr val="151A21"/>
                </a:solidFill>
                <a:latin typeface="Georgia"/>
              </a:rPr>
              <a:t>Vom Text zur Tat</a:t>
            </a:r>
          </a:p>
        </p:txBody>
      </p:sp>
      <p:sp>
        <p:nvSpPr>
          <p:cNvPr id="7" name="TextBox 6"/>
          <p:cNvSpPr txBox="1"/>
          <p:nvPr/>
        </p:nvSpPr>
        <p:spPr>
          <a:xfrm>
            <a:off x="1051560" y="2487168"/>
            <a:ext cx="10088575" cy="3383280"/>
          </a:xfrm>
          <a:prstGeom prst="rect">
            <a:avLst/>
          </a:prstGeom>
          <a:noFill/>
        </p:spPr>
        <p:txBody>
          <a:bodyPr wrap="square" anchor="t">
            <a:spAutoFit/>
          </a:bodyPr>
          <a:lstStyle/>
          <a:p>
            <a:pPr algn="l">
              <a:lnSpc>
                <a:spcPct val="142000"/>
              </a:lnSpc>
            </a:pPr>
            <a:r>
              <a:rPr sz="1800" b="0" i="0">
                <a:solidFill>
                  <a:srgbClr val="151A21"/>
                </a:solidFill>
                <a:latin typeface="Calibri"/>
              </a:rPr>
              <a:t>1.  Sucht auf der Seite einer Kirchengemeinde oder eines Dekanats HIER VOR ORT ein Beispiel für politisches oder soziales Engagement.</a:t>
            </a:r>
          </a:p>
          <a:p>
            <a:pPr algn="l">
              <a:lnSpc>
                <a:spcPct val="142000"/>
              </a:lnSpc>
            </a:pPr>
            <a:r>
              <a:rPr sz="1800" b="0" i="0">
                <a:solidFill>
                  <a:srgbClr val="151A21"/>
                </a:solidFill>
                <a:latin typeface="Calibri"/>
              </a:rPr>
              <a:t>2.  Notiert: Was wird getan? Wer macht mit? Was würde hier fehlen, wenn es die Kirche nicht gäbe?</a:t>
            </a:r>
          </a:p>
          <a:p>
            <a:pPr algn="l">
              <a:lnSpc>
                <a:spcPct val="142000"/>
              </a:lnSpc>
            </a:pPr>
            <a:r>
              <a:rPr sz="1800" b="0" i="0">
                <a:solidFill>
                  <a:srgbClr val="151A21"/>
                </a:solidFill>
                <a:latin typeface="Calibri"/>
              </a:rPr>
              <a:t>3.  Nennt eine Möglichkeit, wie eine Fünfzehnjährige dort mitmachen könnte — ohne fromm sein zu müssen. Findet ihr keine: Schreibt das auf. Auch das ist ein Ergebnis.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5ECF4"/>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nchor="t">
            <a:spAutoFit/>
          </a:bodyPr>
          <a:lstStyle/>
          <a:p>
            <a:pPr algn="l">
              <a:lnSpc>
                <a:spcPct val="125000"/>
              </a:lnSpc>
            </a:pPr>
            <a:r>
              <a:rPr sz="1200" b="0" i="0" spc="160">
                <a:solidFill>
                  <a:srgbClr val="1E3A5F"/>
                </a:solidFill>
                <a:latin typeface="Consolas"/>
              </a:rPr>
              <a:t>SCHLUSS DER EINHEIT</a:t>
            </a:r>
          </a:p>
        </p:txBody>
      </p:sp>
      <p:sp>
        <p:nvSpPr>
          <p:cNvPr id="3" name="TextBox 2"/>
          <p:cNvSpPr txBox="1"/>
          <p:nvPr/>
        </p:nvSpPr>
        <p:spPr>
          <a:xfrm>
            <a:off x="777240" y="1371600"/>
            <a:ext cx="10637215" cy="3840480"/>
          </a:xfrm>
          <a:prstGeom prst="rect">
            <a:avLst/>
          </a:prstGeom>
          <a:noFill/>
        </p:spPr>
        <p:txBody>
          <a:bodyPr wrap="square" anchor="ctr">
            <a:spAutoFit/>
          </a:bodyPr>
          <a:lstStyle/>
          <a:p>
            <a:pPr algn="l">
              <a:lnSpc>
                <a:spcPct val="132000"/>
              </a:lnSpc>
            </a:pPr>
            <a:r>
              <a:rPr sz="4000" b="0" i="0">
                <a:solidFill>
                  <a:srgbClr val="151A21"/>
                </a:solidFill>
                <a:latin typeface="Georgia"/>
              </a:rPr>
              <a:t>Früh anfangen.</a:t>
            </a:r>
          </a:p>
          <a:p>
            <a:pPr algn="l">
              <a:lnSpc>
                <a:spcPct val="132000"/>
              </a:lnSpc>
            </a:pPr>
            <a:r>
              <a:rPr sz="4000" b="0" i="0">
                <a:solidFill>
                  <a:srgbClr val="151A21"/>
                </a:solidFill>
                <a:latin typeface="Georgia"/>
              </a:rPr>
              <a:t>Nicht allein sein.</a:t>
            </a:r>
          </a:p>
          <a:p>
            <a:pPr algn="l">
              <a:lnSpc>
                <a:spcPct val="132000"/>
              </a:lnSpc>
            </a:pPr>
            <a:r>
              <a:rPr sz="4000" b="0" i="0">
                <a:solidFill>
                  <a:srgbClr val="151A21"/>
                </a:solidFill>
                <a:latin typeface="Georgia"/>
              </a:rPr>
              <a:t>Vorher geübt haben.</a:t>
            </a:r>
          </a:p>
          <a:p>
            <a:pPr algn="l">
              <a:lnSpc>
                <a:spcPct val="132000"/>
              </a:lnSpc>
            </a:pPr>
            <a:r>
              <a:rPr sz="4000" b="0" i="0">
                <a:solidFill>
                  <a:srgbClr val="151A21"/>
                </a:solidFill>
                <a:latin typeface="Georgia"/>
              </a:rPr>
              <a:t/>
            </a:r>
          </a:p>
          <a:p>
            <a:pPr algn="l">
              <a:lnSpc>
                <a:spcPct val="132000"/>
              </a:lnSpc>
            </a:pPr>
            <a:r>
              <a:rPr sz="4000" b="0" i="0">
                <a:solidFill>
                  <a:srgbClr val="151A21"/>
                </a:solidFill>
                <a:latin typeface="Georgia"/>
              </a:rPr>
              <a:t>Genau das habt ihr heute getan.</a:t>
            </a:r>
          </a:p>
        </p:txBody>
      </p:sp>
      <p:sp>
        <p:nvSpPr>
          <p:cNvPr id="4" name="TextBox 3"/>
          <p:cNvSpPr txBox="1"/>
          <p:nvPr/>
        </p:nvSpPr>
        <p:spPr>
          <a:xfrm>
            <a:off x="777240" y="5486400"/>
            <a:ext cx="10637215" cy="548640"/>
          </a:xfrm>
          <a:prstGeom prst="rect">
            <a:avLst/>
          </a:prstGeom>
          <a:noFill/>
        </p:spPr>
        <p:txBody>
          <a:bodyPr wrap="square" anchor="t">
            <a:spAutoFit/>
          </a:bodyPr>
          <a:lstStyle/>
          <a:p>
            <a:pPr algn="l">
              <a:lnSpc>
                <a:spcPct val="125000"/>
              </a:lnSpc>
            </a:pPr>
            <a:r>
              <a:rPr sz="1300" b="0" i="0" spc="80">
                <a:solidFill>
                  <a:srgbClr val="78828F"/>
                </a:solidFill>
                <a:latin typeface="Consolas"/>
              </a:rPr>
              <a:t>Eure eigene Antwort aus Doppelstunde 4 — vor drei Wochen aufgeschrieben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